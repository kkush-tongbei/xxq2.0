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468" r:id="rId3"/>
    <p:sldId id="469" r:id="rId4"/>
    <p:sldId id="514" r:id="rId5"/>
    <p:sldId id="470" r:id="rId6"/>
    <p:sldId id="471" r:id="rId7"/>
    <p:sldId id="472" r:id="rId8"/>
    <p:sldId id="473" r:id="rId9"/>
    <p:sldId id="474" r:id="rId10"/>
    <p:sldId id="475" r:id="rId11"/>
    <p:sldId id="486" r:id="rId12"/>
    <p:sldId id="485" r:id="rId13"/>
    <p:sldId id="487" r:id="rId14"/>
    <p:sldId id="488" r:id="rId15"/>
    <p:sldId id="489" r:id="rId16"/>
    <p:sldId id="490" r:id="rId17"/>
    <p:sldId id="491" r:id="rId18"/>
    <p:sldId id="492" r:id="rId19"/>
    <p:sldId id="493" r:id="rId20"/>
    <p:sldId id="494" r:id="rId21"/>
    <p:sldId id="495" r:id="rId22"/>
    <p:sldId id="496" r:id="rId23"/>
    <p:sldId id="497" r:id="rId24"/>
    <p:sldId id="498" r:id="rId25"/>
    <p:sldId id="500" r:id="rId26"/>
    <p:sldId id="502" r:id="rId27"/>
    <p:sldId id="625" r:id="rId28"/>
    <p:sldId id="626" r:id="rId29"/>
    <p:sldId id="507" r:id="rId30"/>
    <p:sldId id="508" r:id="rId31"/>
    <p:sldId id="509" r:id="rId32"/>
    <p:sldId id="510" r:id="rId33"/>
    <p:sldId id="511" r:id="rId34"/>
    <p:sldId id="517" r:id="rId35"/>
    <p:sldId id="512" r:id="rId36"/>
    <p:sldId id="513" r:id="rId37"/>
  </p:sldIdLst>
  <p:sldSz cx="9144000" cy="6858000" type="screen4x3"/>
  <p:notesSz cx="6797675" cy="9928225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5F5F5F"/>
    <a:srgbClr val="C0C0C0"/>
    <a:srgbClr val="0000FF"/>
    <a:srgbClr val="CCCCFF"/>
    <a:srgbClr val="99CCFF"/>
    <a:srgbClr val="66CCFF"/>
    <a:srgbClr val="CCFF33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6745" autoAdjust="0"/>
  </p:normalViewPr>
  <p:slideViewPr>
    <p:cSldViewPr>
      <p:cViewPr varScale="1">
        <p:scale>
          <a:sx n="151" d="100"/>
          <a:sy n="151" d="100"/>
        </p:scale>
        <p:origin x="112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24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294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0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81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0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294" y="943081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5F1315AD-20EE-4E69-BEAD-839CC0BB2F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4122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294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4" y="4715406"/>
            <a:ext cx="5438748" cy="4467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81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294" y="943081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30" tIns="44115" rIns="88230" bIns="441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42AE66F4-7335-420D-A550-9ADED07C2B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7461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CC0E69-4369-4CD8-AAC4-CB38128668B3}" type="slidenum">
              <a:rPr lang="en-US" altLang="zh-CN" smtClean="0">
                <a:ea typeface="宋体" charset="-122"/>
              </a:rPr>
              <a:pPr/>
              <a:t>1</a:t>
            </a:fld>
            <a:endParaRPr lang="en-US" altLang="zh-CN">
              <a:ea typeface="宋体" charset="-122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3433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AE66F4-7335-420D-A550-9ADED07C2B82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463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AE66F4-7335-420D-A550-9ADED07C2B8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22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en-US" dirty="0"/>
            </a:br>
            <a:r>
              <a:rPr lang="en-US" altLang="zh-CN" dirty="0" err="1"/>
              <a:t>gethostbyname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AE66F4-7335-420D-A550-9ADED07C2B8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334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16872" indent="-2757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02881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44033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1985185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426338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867490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308642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749794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263871F-E39D-4406-8BBD-2F877AE1862C}" type="slidenum">
              <a:rPr lang="en-US" altLang="zh-CN" smtClean="0"/>
              <a:pPr eaLnBrk="1" hangingPunct="1"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733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16872" indent="-2757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02881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44033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1985185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426338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867490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308642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749794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724AC7E-93DA-41B7-A8E8-939EE277D787}" type="slidenum">
              <a:rPr lang="en-US" altLang="zh-CN" smtClean="0"/>
              <a:pPr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793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16872" indent="-2757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02881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44033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1985185" indent="-22057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426338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867490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308642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749794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1369125-8AE0-4AB5-80D4-7D7D1C9D8A8D}" type="slidenum">
              <a:rPr lang="en-US" altLang="zh-CN" smtClean="0"/>
              <a:pPr eaLnBrk="1" hangingPunct="1">
                <a:spcBef>
                  <a:spcPct val="0"/>
                </a:spcBef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8705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itchFamily="34" charset="0"/>
              </a:rPr>
              <a:t>Vista</a:t>
            </a:r>
            <a:r>
              <a:rPr lang="zh-CN" altLang="en-US" dirty="0">
                <a:latin typeface="Arial" pitchFamily="34" charset="0"/>
              </a:rPr>
              <a:t>和</a:t>
            </a:r>
            <a:r>
              <a:rPr lang="en-US" altLang="zh-CN" dirty="0">
                <a:latin typeface="Arial" pitchFamily="34" charset="0"/>
              </a:rPr>
              <a:t>Win7</a:t>
            </a:r>
            <a:r>
              <a:rPr lang="zh-CN" altLang="en-US" dirty="0">
                <a:latin typeface="Arial" pitchFamily="34" charset="0"/>
              </a:rPr>
              <a:t>环境下，需要以管理员身份运行</a:t>
            </a:r>
            <a:r>
              <a:rPr lang="en-US" altLang="zh-CN" dirty="0" err="1">
                <a:latin typeface="Arial" pitchFamily="34" charset="0"/>
              </a:rPr>
              <a:t>wireshark</a:t>
            </a:r>
            <a:r>
              <a:rPr lang="en-US" altLang="zh-CN" dirty="0">
                <a:latin typeface="Arial" pitchFamily="34" charset="0"/>
              </a:rPr>
              <a:t>, </a:t>
            </a:r>
          </a:p>
          <a:p>
            <a:r>
              <a:rPr lang="zh-CN" altLang="en-US" dirty="0">
                <a:latin typeface="Arial" pitchFamily="34" charset="0"/>
              </a:rPr>
              <a:t>或者在</a:t>
            </a:r>
            <a:r>
              <a:rPr lang="en-US" altLang="zh-CN" dirty="0">
                <a:latin typeface="Arial" pitchFamily="34" charset="0"/>
              </a:rPr>
              <a:t>command</a:t>
            </a:r>
            <a:r>
              <a:rPr lang="zh-CN" altLang="en-US" dirty="0">
                <a:latin typeface="Arial" pitchFamily="34" charset="0"/>
              </a:rPr>
              <a:t>环境</a:t>
            </a:r>
            <a:r>
              <a:rPr lang="en-US" altLang="zh-CN" dirty="0">
                <a:latin typeface="Arial" pitchFamily="34" charset="0"/>
              </a:rPr>
              <a:t>(</a:t>
            </a:r>
            <a:r>
              <a:rPr lang="zh-CN" altLang="en-US" dirty="0">
                <a:latin typeface="Arial" pitchFamily="34" charset="0"/>
              </a:rPr>
              <a:t>管理员身份运行</a:t>
            </a:r>
            <a:r>
              <a:rPr lang="en-US" altLang="zh-CN" dirty="0">
                <a:latin typeface="Arial" pitchFamily="34" charset="0"/>
              </a:rPr>
              <a:t>)</a:t>
            </a:r>
            <a:r>
              <a:rPr lang="zh-CN" altLang="en-US" dirty="0">
                <a:latin typeface="Arial" pitchFamily="34" charset="0"/>
              </a:rPr>
              <a:t>下，运行 </a:t>
            </a:r>
            <a:r>
              <a:rPr lang="en-US" altLang="zh-CN" dirty="0">
                <a:latin typeface="Arial" pitchFamily="34" charset="0"/>
              </a:rPr>
              <a:t>net start NPF</a:t>
            </a:r>
            <a:endParaRPr lang="zh-CN" altLang="en-US" dirty="0">
              <a:latin typeface="Arial" pitchFamily="34" charset="0"/>
            </a:endParaRPr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16872" indent="-27572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02881" indent="-220576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44033" indent="-220576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1985185" indent="-220576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426338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867490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308642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749794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D89B79-7240-4F90-97A5-818FA1C724AB}" type="slidenum">
              <a:rPr lang="en-US" altLang="zh-CN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8728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16872" indent="-27572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02881" indent="-220576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44033" indent="-220576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1985185" indent="-220576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426338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867490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308642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749794" indent="-22057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3F9358-87AB-47A7-B415-E8D133C95E2E}" type="slidenum">
              <a:rPr lang="en-US" altLang="zh-CN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2783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0504444-9A1C-44A0-989D-C120356031B0}" type="slidenum">
              <a:rPr lang="en-US" altLang="zh-CN" smtClean="0"/>
              <a:pPr eaLnBrk="1" hangingPunct="1">
                <a:spcBef>
                  <a:spcPct val="0"/>
                </a:spcBef>
              </a:pPr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ipconfig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AE66F4-7335-420D-A550-9ADED07C2B82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18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pic>
        <p:nvPicPr>
          <p:cNvPr id="14" name="Picture 1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" y="6219825"/>
            <a:ext cx="89725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algn="ctr"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2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1BDB774D-8F24-450A-8541-277B4244BA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73104-5D2C-4340-B197-6953423B50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ABC41B-F6B9-4645-8041-8F0E114E16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4225B-BD54-48D3-9BDB-5BD42BF906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3C945D-5164-492F-B8AD-55A7EF4C30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20019-28AF-4055-9079-ECB1CD4619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395E1-4DEB-4EBE-BFF8-4B00C06E2F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DCB29-F659-4501-A303-7E8241EC01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D32A1-E38B-447B-A5FB-D15F6A5813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2ED92-9524-401D-B48B-CB680E581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19804-E826-42E3-A345-825503E9F7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D3F4B-AFC2-4B6B-B6CF-3E9FC82A9C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23AB9-F4C4-4E18-9A1F-730FBB4983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zh-CN" sz="2400">
              <a:ea typeface="宋体" pitchFamily="2" charset="-122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zh-CN" sz="2400">
              <a:ea typeface="宋体" pitchFamily="2" charset="-122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zh-CN" sz="2400">
              <a:ea typeface="宋体" pitchFamily="2" charset="-122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zh-CN" sz="2400">
              <a:ea typeface="宋体" pitchFamily="2" charset="-122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zh-CN" sz="2400">
              <a:ea typeface="宋体" pitchFamily="2" charset="-122"/>
            </a:endParaRP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zh-CN" sz="2400">
              <a:ea typeface="宋体" pitchFamily="2" charset="-122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zh-CN" sz="2400">
              <a:ea typeface="宋体" pitchFamily="2" charset="-122"/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51538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folHlink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786F6529-C150-4150-A53D-C5E6FC1199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reshark.org/download.html" TargetMode="External"/><Relationship Id="rId2" Type="http://schemas.openxmlformats.org/officeDocument/2006/relationships/hyperlink" Target="http://www.wireshark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6585" y="998730"/>
            <a:ext cx="7542213" cy="1462088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</a:pPr>
            <a:r>
              <a:rPr lang="en-US" altLang="zh-CN" sz="4000"/>
              <a:t>Project of Computer Networks</a:t>
            </a:r>
            <a:r>
              <a:rPr lang="zh-CN" altLang="en-US" sz="4000"/>
              <a:t>：</a:t>
            </a:r>
            <a:br>
              <a:rPr lang="en-US" altLang="zh-CN" sz="4000"/>
            </a:br>
            <a:r>
              <a:rPr lang="en-US" altLang="zh-CN" sz="4000"/>
              <a:t>Implementation of a DNS Relay</a:t>
            </a:r>
            <a:endParaRPr lang="en-US" altLang="zh-CN" sz="40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04192" y="3813563"/>
            <a:ext cx="5535615" cy="204570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/>
              <a:t>张波</a:t>
            </a:r>
            <a:endParaRPr lang="en-US" altLang="zh-CN" sz="2800"/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zbo@bupt.edu.cn</a:t>
            </a:r>
            <a:endParaRPr lang="en-US" altLang="zh-CN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69E5E0-5B11-1254-5F1C-C81DD57AD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48" y="2753925"/>
            <a:ext cx="2152650" cy="276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993062" cy="1462087"/>
          </a:xfrm>
        </p:spPr>
        <p:txBody>
          <a:bodyPr/>
          <a:lstStyle/>
          <a:p>
            <a:r>
              <a:rPr lang="en-US" altLang="zh-CN" sz="3600" dirty="0"/>
              <a:t>Outline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6625" y="1988840"/>
            <a:ext cx="7772400" cy="4114800"/>
          </a:xfrm>
        </p:spPr>
        <p:txBody>
          <a:bodyPr/>
          <a:lstStyle/>
          <a:p>
            <a:r>
              <a:rPr lang="en-US" altLang="zh-CN" dirty="0"/>
              <a:t>Basic requirements </a:t>
            </a:r>
          </a:p>
          <a:p>
            <a:r>
              <a:rPr lang="en-US" altLang="zh-CN" dirty="0"/>
              <a:t>What is DNS</a:t>
            </a:r>
          </a:p>
          <a:p>
            <a:r>
              <a:rPr lang="en-US" altLang="zh-CN" dirty="0"/>
              <a:t>How to use Wireshark</a:t>
            </a:r>
          </a:p>
          <a:p>
            <a:r>
              <a:rPr lang="en-US" altLang="zh-CN" dirty="0"/>
              <a:t>How to make socket programming</a:t>
            </a:r>
          </a:p>
          <a:p>
            <a:pPr marL="0" indent="0">
              <a:buNone/>
            </a:pP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2394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 Relay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1610" y="1943835"/>
            <a:ext cx="7772400" cy="4114800"/>
          </a:xfrm>
        </p:spPr>
        <p:txBody>
          <a:bodyPr/>
          <a:lstStyle/>
          <a:p>
            <a:r>
              <a:rPr lang="en-US" altLang="zh-CN" dirty="0"/>
              <a:t>Receiving DNS queries from DNS client (</a:t>
            </a:r>
            <a:r>
              <a:rPr lang="en-US" altLang="zh-CN" dirty="0">
                <a:solidFill>
                  <a:srgbClr val="002060"/>
                </a:solidFill>
              </a:rPr>
              <a:t>Resolver</a:t>
            </a:r>
            <a:r>
              <a:rPr lang="en-US" altLang="zh-CN" dirty="0"/>
              <a:t>) and forward them to a given DNS server</a:t>
            </a:r>
          </a:p>
          <a:p>
            <a:r>
              <a:rPr lang="en-US" altLang="zh-CN" dirty="0"/>
              <a:t>Receiving DNS responses from DNS server and forward them to the Resolver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971600" y="5454225"/>
            <a:ext cx="1350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Resolver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 bwMode="auto">
          <a:xfrm>
            <a:off x="971600" y="5409220"/>
            <a:ext cx="1350150" cy="630070"/>
          </a:xfrm>
          <a:prstGeom prst="rect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910" y="5298303"/>
            <a:ext cx="1350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DNS Relay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 bwMode="auto">
          <a:xfrm>
            <a:off x="3761910" y="5274205"/>
            <a:ext cx="1350150" cy="9001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225" y="5319210"/>
            <a:ext cx="1350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DNS Server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 bwMode="auto">
          <a:xfrm>
            <a:off x="6597225" y="5274205"/>
            <a:ext cx="1350150" cy="900100"/>
          </a:xfrm>
          <a:prstGeom prst="rect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321750" y="5113637"/>
            <a:ext cx="1440160" cy="430598"/>
            <a:chOff x="2321750" y="5113637"/>
            <a:chExt cx="1440160" cy="430598"/>
          </a:xfrm>
        </p:grpSpPr>
        <p:cxnSp>
          <p:nvCxnSpPr>
            <p:cNvPr id="12" name="直接箭头连接符 11"/>
            <p:cNvCxnSpPr/>
            <p:nvPr/>
          </p:nvCxnSpPr>
          <p:spPr bwMode="auto">
            <a:xfrm>
              <a:off x="2321750" y="5544235"/>
              <a:ext cx="1440160" cy="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2456765" y="5113637"/>
              <a:ext cx="1125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70C0"/>
                  </a:solidFill>
                </a:rPr>
                <a:t>Query</a:t>
              </a:r>
              <a:endParaRPr lang="zh-CN" altLang="en-US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112060" y="5138850"/>
            <a:ext cx="1440160" cy="402260"/>
            <a:chOff x="5112060" y="5138850"/>
            <a:chExt cx="1440160" cy="402260"/>
          </a:xfrm>
        </p:grpSpPr>
        <p:cxnSp>
          <p:nvCxnSpPr>
            <p:cNvPr id="13" name="直接箭头连接符 12"/>
            <p:cNvCxnSpPr/>
            <p:nvPr/>
          </p:nvCxnSpPr>
          <p:spPr bwMode="auto">
            <a:xfrm>
              <a:off x="5112060" y="5541110"/>
              <a:ext cx="1440160" cy="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7" name="TextBox 16"/>
            <p:cNvSpPr txBox="1"/>
            <p:nvPr/>
          </p:nvSpPr>
          <p:spPr>
            <a:xfrm>
              <a:off x="5269577" y="5138850"/>
              <a:ext cx="1125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70C0"/>
                  </a:solidFill>
                </a:rPr>
                <a:t>Query</a:t>
              </a:r>
              <a:endParaRPr lang="zh-CN" altLang="en-US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022050" y="5904275"/>
            <a:ext cx="1665185" cy="412511"/>
            <a:chOff x="5022050" y="5904275"/>
            <a:chExt cx="1665185" cy="412511"/>
          </a:xfrm>
        </p:grpSpPr>
        <p:cxnSp>
          <p:nvCxnSpPr>
            <p:cNvPr id="14" name="直接箭头连接符 13"/>
            <p:cNvCxnSpPr/>
            <p:nvPr/>
          </p:nvCxnSpPr>
          <p:spPr bwMode="auto">
            <a:xfrm>
              <a:off x="5112060" y="5904275"/>
              <a:ext cx="1440160" cy="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20" name="TextBox 19"/>
            <p:cNvSpPr txBox="1"/>
            <p:nvPr/>
          </p:nvSpPr>
          <p:spPr>
            <a:xfrm>
              <a:off x="5022050" y="5947454"/>
              <a:ext cx="1665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70C0"/>
                  </a:solidFill>
                </a:rPr>
                <a:t>Response</a:t>
              </a:r>
              <a:endParaRPr lang="zh-CN" altLang="en-US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231740" y="5904275"/>
            <a:ext cx="1665185" cy="412511"/>
            <a:chOff x="5022050" y="5904275"/>
            <a:chExt cx="1665185" cy="412511"/>
          </a:xfrm>
        </p:grpSpPr>
        <p:cxnSp>
          <p:nvCxnSpPr>
            <p:cNvPr id="23" name="直接箭头连接符 22"/>
            <p:cNvCxnSpPr/>
            <p:nvPr/>
          </p:nvCxnSpPr>
          <p:spPr bwMode="auto">
            <a:xfrm>
              <a:off x="5112060" y="5904275"/>
              <a:ext cx="1440160" cy="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24" name="TextBox 23"/>
            <p:cNvSpPr txBox="1"/>
            <p:nvPr/>
          </p:nvSpPr>
          <p:spPr>
            <a:xfrm>
              <a:off x="5022050" y="5947454"/>
              <a:ext cx="1665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70C0"/>
                  </a:solidFill>
                </a:rPr>
                <a:t>Response</a:t>
              </a:r>
              <a:endParaRPr lang="zh-CN" altLang="en-US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296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Cases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1898829"/>
            <a:ext cx="8100563" cy="4365485"/>
          </a:xfrm>
        </p:spPr>
        <p:txBody>
          <a:bodyPr/>
          <a:lstStyle/>
          <a:p>
            <a:r>
              <a:rPr lang="en-US" altLang="zh-CN" dirty="0"/>
              <a:t>Checking local database (</a:t>
            </a:r>
            <a:r>
              <a:rPr lang="en-US" altLang="zh-CN" dirty="0" err="1"/>
              <a:t>eg</a:t>
            </a:r>
            <a:r>
              <a:rPr lang="en-US" altLang="zh-CN" dirty="0"/>
              <a:t>. </a:t>
            </a:r>
            <a:r>
              <a:rPr lang="en-US" altLang="zh-CN" i="1" dirty="0">
                <a:solidFill>
                  <a:schemeClr val="tx2"/>
                </a:solidFill>
              </a:rPr>
              <a:t>dnsrelay.txt</a:t>
            </a:r>
            <a:r>
              <a:rPr lang="en-US" altLang="zh-CN" dirty="0"/>
              <a:t>) first</a:t>
            </a:r>
          </a:p>
          <a:p>
            <a:pPr lvl="1"/>
            <a:r>
              <a:rPr lang="en-US" altLang="zh-CN" dirty="0"/>
              <a:t>Case 1: for IP address </a:t>
            </a:r>
            <a:r>
              <a:rPr lang="en-US" altLang="zh-CN" i="1" dirty="0">
                <a:solidFill>
                  <a:schemeClr val="tx2"/>
                </a:solidFill>
              </a:rPr>
              <a:t>0.0.0.0</a:t>
            </a:r>
            <a:r>
              <a:rPr lang="en-US" altLang="zh-CN" dirty="0"/>
              <a:t>,  sending back “no such name” (</a:t>
            </a:r>
            <a:r>
              <a:rPr lang="en-US" altLang="zh-CN" dirty="0">
                <a:solidFill>
                  <a:srgbClr val="FF0000"/>
                </a:solidFill>
              </a:rPr>
              <a:t>reply code =0011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Case 2: for domain name included in the database, sending back corresponding IP address</a:t>
            </a:r>
          </a:p>
          <a:p>
            <a:pPr lvl="1"/>
            <a:r>
              <a:rPr lang="en-US" altLang="zh-CN" dirty="0"/>
              <a:t>Case 3: for domain name not included in the database, forward query to local DNS server 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22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Environment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OS: </a:t>
            </a:r>
          </a:p>
          <a:p>
            <a:pPr lvl="1"/>
            <a:r>
              <a:rPr lang="en-US" altLang="zh-CN" dirty="0"/>
              <a:t>Windows or Linux</a:t>
            </a:r>
          </a:p>
          <a:p>
            <a:r>
              <a:rPr lang="en-US" altLang="zh-CN" dirty="0"/>
              <a:t>Programming language:</a:t>
            </a:r>
          </a:p>
          <a:p>
            <a:pPr lvl="1"/>
            <a:r>
              <a:rPr lang="en-US" altLang="zh-CN" dirty="0"/>
              <a:t>C, C++, </a:t>
            </a:r>
            <a:r>
              <a:rPr lang="en-US" altLang="zh-CN"/>
              <a:t>Java,…</a:t>
            </a:r>
            <a:endParaRPr lang="en-US" altLang="zh-CN" dirty="0"/>
          </a:p>
          <a:p>
            <a:r>
              <a:rPr lang="en-US" altLang="zh-CN" dirty="0"/>
              <a:t>Working in a group</a:t>
            </a:r>
          </a:p>
          <a:p>
            <a:pPr lvl="1"/>
            <a:r>
              <a:rPr lang="en-US" altLang="zh-CN" dirty="0"/>
              <a:t>3 persons</a:t>
            </a:r>
          </a:p>
          <a:p>
            <a:pPr lvl="1"/>
            <a:r>
              <a:rPr lang="en-US" altLang="zh-CN" dirty="0"/>
              <a:t>1 source program and 1 report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8772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Getting started</a:t>
            </a:r>
            <a:br>
              <a:rPr lang="en-US" altLang="zh-CN" dirty="0"/>
            </a:br>
            <a:r>
              <a:rPr lang="en-US" altLang="zh-CN" dirty="0"/>
              <a:t>Understanding DNS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Domain Name System</a:t>
            </a:r>
          </a:p>
          <a:p>
            <a:r>
              <a:rPr lang="en-US" altLang="zh-CN" sz="2800" dirty="0"/>
              <a:t>A </a:t>
            </a:r>
            <a:r>
              <a:rPr lang="en-US" altLang="zh-CN" sz="2800" dirty="0">
                <a:solidFill>
                  <a:srgbClr val="FF0000"/>
                </a:solidFill>
              </a:rPr>
              <a:t>distributed database </a:t>
            </a:r>
            <a:r>
              <a:rPr lang="en-US" altLang="zh-CN" sz="2800" dirty="0"/>
              <a:t>providing mapping between Domain name and IP address</a:t>
            </a:r>
          </a:p>
          <a:p>
            <a:pPr lvl="1"/>
            <a:r>
              <a:rPr lang="en-US" altLang="zh-CN" sz="2400" dirty="0"/>
              <a:t>Implemented in hierarchy of many </a:t>
            </a:r>
            <a:r>
              <a:rPr lang="en-US" altLang="zh-CN" sz="2400" dirty="0">
                <a:solidFill>
                  <a:srgbClr val="002060"/>
                </a:solidFill>
              </a:rPr>
              <a:t>name servers</a:t>
            </a:r>
          </a:p>
          <a:p>
            <a:r>
              <a:rPr lang="en-US" altLang="zh-CN" sz="2800" dirty="0"/>
              <a:t>An </a:t>
            </a:r>
            <a:r>
              <a:rPr lang="en-US" altLang="zh-CN" sz="2800" dirty="0">
                <a:solidFill>
                  <a:srgbClr val="FF0000"/>
                </a:solidFill>
              </a:rPr>
              <a:t>application protocol </a:t>
            </a:r>
          </a:p>
          <a:p>
            <a:pPr lvl="1"/>
            <a:r>
              <a:rPr lang="en-US" altLang="zh-CN" sz="2400" dirty="0"/>
              <a:t>Used by hosts and name servers to communicate to </a:t>
            </a:r>
            <a:r>
              <a:rPr lang="en-US" altLang="zh-CN" sz="2400" dirty="0">
                <a:solidFill>
                  <a:srgbClr val="002060"/>
                </a:solidFill>
              </a:rPr>
              <a:t>resolve names</a:t>
            </a:r>
          </a:p>
          <a:p>
            <a:r>
              <a:rPr lang="en-US" altLang="zh-CN" sz="2800" dirty="0"/>
              <a:t>Mostly using </a:t>
            </a:r>
            <a:r>
              <a:rPr lang="en-US" altLang="zh-CN" sz="2800" dirty="0">
                <a:solidFill>
                  <a:srgbClr val="FF0000"/>
                </a:solidFill>
              </a:rPr>
              <a:t>UDP</a:t>
            </a:r>
            <a:r>
              <a:rPr lang="en-US" altLang="zh-CN" sz="2800" dirty="0"/>
              <a:t> in transport layer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990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Domain Namespace</a:t>
            </a:r>
            <a:br>
              <a:rPr lang="en-US" altLang="zh-CN" sz="4000" dirty="0"/>
            </a:br>
            <a:r>
              <a:rPr lang="en-US" altLang="zh-CN" sz="4000" dirty="0"/>
              <a:t> </a:t>
            </a:r>
            <a:r>
              <a:rPr lang="en-US" altLang="zh-CN" sz="4000" dirty="0">
                <a:latin typeface="Arial" pitchFamily="34" charset="0"/>
              </a:rPr>
              <a:t>–</a:t>
            </a:r>
            <a:r>
              <a:rPr lang="en-US" altLang="zh-CN" sz="4000" dirty="0"/>
              <a:t> the hierarchical structure</a:t>
            </a:r>
            <a:endParaRPr lang="zh-CN" altLang="en-US" sz="4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797425" y="1718810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1917700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FF00FF"/>
              </a:solidFill>
            </a:endParaRP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2592388" y="2464935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endParaRPr lang="en-US" altLang="zh-CN" sz="1800">
              <a:solidFill>
                <a:srgbClr val="FF00FF"/>
              </a:solidFill>
              <a:ea typeface="宋体" charset="-122"/>
            </a:endParaRPr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3267075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>
                <a:solidFill>
                  <a:srgbClr val="FF00FF"/>
                </a:solidFill>
                <a:ea typeface="宋体" charset="-122"/>
              </a:rPr>
              <a:t>gov</a:t>
            </a: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897313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>
                <a:solidFill>
                  <a:srgbClr val="FF00FF"/>
                </a:solidFill>
                <a:ea typeface="宋体" charset="-122"/>
              </a:rPr>
              <a:t>int</a:t>
            </a:r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4527550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>
                <a:solidFill>
                  <a:srgbClr val="FF00FF"/>
                </a:solidFill>
                <a:ea typeface="宋体" charset="-122"/>
              </a:rPr>
              <a:t>mil</a:t>
            </a:r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5157788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>
                <a:solidFill>
                  <a:srgbClr val="FF00FF"/>
                </a:solidFill>
                <a:ea typeface="宋体" charset="-122"/>
              </a:rPr>
              <a:t>net</a:t>
            </a: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5788025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>
                <a:solidFill>
                  <a:srgbClr val="FF00FF"/>
                </a:solidFill>
                <a:ea typeface="宋体" charset="-122"/>
              </a:rPr>
              <a:t>org</a:t>
            </a:r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6732588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>
                <a:solidFill>
                  <a:srgbClr val="0000FF"/>
                </a:solidFill>
                <a:ea typeface="宋体" charset="-122"/>
              </a:rPr>
              <a:t>ae</a:t>
            </a: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7588250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>
                <a:solidFill>
                  <a:srgbClr val="0000FF"/>
                </a:solidFill>
                <a:ea typeface="宋体" charset="-122"/>
              </a:rPr>
              <a:t>cn</a:t>
            </a: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8442325" y="2476048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>
                <a:solidFill>
                  <a:srgbClr val="0000FF"/>
                </a:solidFill>
                <a:ea typeface="宋体" charset="-122"/>
              </a:rPr>
              <a:t>zw</a:t>
            </a:r>
          </a:p>
        </p:txBody>
      </p:sp>
      <p:cxnSp>
        <p:nvCxnSpPr>
          <p:cNvPr id="18" name="AutoShape 18"/>
          <p:cNvCxnSpPr>
            <a:cxnSpLocks noChangeShapeType="1"/>
            <a:stCxn id="6" idx="4"/>
            <a:endCxn id="12" idx="0"/>
          </p:cNvCxnSpPr>
          <p:nvPr/>
        </p:nvCxnSpPr>
        <p:spPr bwMode="auto">
          <a:xfrm flipH="1">
            <a:off x="4797425" y="2272848"/>
            <a:ext cx="269875" cy="188912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9"/>
          <p:cNvCxnSpPr>
            <a:cxnSpLocks noChangeShapeType="1"/>
            <a:stCxn id="6" idx="4"/>
            <a:endCxn id="13" idx="0"/>
          </p:cNvCxnSpPr>
          <p:nvPr/>
        </p:nvCxnSpPr>
        <p:spPr bwMode="auto">
          <a:xfrm>
            <a:off x="5067300" y="2272848"/>
            <a:ext cx="360363" cy="188912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21"/>
          <p:cNvCxnSpPr>
            <a:cxnSpLocks noChangeShapeType="1"/>
            <a:stCxn id="6" idx="3"/>
            <a:endCxn id="10" idx="0"/>
          </p:cNvCxnSpPr>
          <p:nvPr/>
        </p:nvCxnSpPr>
        <p:spPr bwMode="auto">
          <a:xfrm flipH="1">
            <a:off x="3536950" y="2193473"/>
            <a:ext cx="1339850" cy="268287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22"/>
          <p:cNvCxnSpPr>
            <a:cxnSpLocks noChangeShapeType="1"/>
            <a:stCxn id="6" idx="5"/>
            <a:endCxn id="15" idx="0"/>
          </p:cNvCxnSpPr>
          <p:nvPr/>
        </p:nvCxnSpPr>
        <p:spPr bwMode="auto">
          <a:xfrm>
            <a:off x="5257800" y="2193473"/>
            <a:ext cx="1744663" cy="2682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24"/>
          <p:cNvCxnSpPr>
            <a:cxnSpLocks noChangeShapeType="1"/>
            <a:stCxn id="6" idx="6"/>
            <a:endCxn id="17" idx="0"/>
          </p:cNvCxnSpPr>
          <p:nvPr/>
        </p:nvCxnSpPr>
        <p:spPr bwMode="auto">
          <a:xfrm>
            <a:off x="5351463" y="1988685"/>
            <a:ext cx="3360737" cy="4730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Oval 27"/>
          <p:cNvSpPr>
            <a:spLocks noChangeArrowheads="1"/>
          </p:cNvSpPr>
          <p:nvPr/>
        </p:nvSpPr>
        <p:spPr bwMode="auto">
          <a:xfrm>
            <a:off x="2592388" y="3222173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FF00FF"/>
              </a:solidFill>
            </a:endParaRPr>
          </a:p>
        </p:txBody>
      </p:sp>
      <p:sp>
        <p:nvSpPr>
          <p:cNvPr id="27" name="Oval 28"/>
          <p:cNvSpPr>
            <a:spLocks noChangeArrowheads="1"/>
          </p:cNvSpPr>
          <p:nvPr/>
        </p:nvSpPr>
        <p:spPr bwMode="auto">
          <a:xfrm>
            <a:off x="2592388" y="3977823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FF00FF"/>
              </a:solidFill>
            </a:endParaRPr>
          </a:p>
        </p:txBody>
      </p:sp>
      <p:sp>
        <p:nvSpPr>
          <p:cNvPr id="28" name="Oval 29"/>
          <p:cNvSpPr>
            <a:spLocks noChangeArrowheads="1"/>
          </p:cNvSpPr>
          <p:nvPr/>
        </p:nvSpPr>
        <p:spPr bwMode="auto">
          <a:xfrm>
            <a:off x="2592388" y="4733473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FF00FF"/>
              </a:solidFill>
            </a:endParaRPr>
          </a:p>
        </p:txBody>
      </p:sp>
      <p:sp>
        <p:nvSpPr>
          <p:cNvPr id="32" name="Oval 33"/>
          <p:cNvSpPr>
            <a:spLocks noChangeArrowheads="1"/>
          </p:cNvSpPr>
          <p:nvPr/>
        </p:nvSpPr>
        <p:spPr bwMode="auto">
          <a:xfrm>
            <a:off x="7588250" y="4733473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FF"/>
              </a:solidFill>
            </a:endParaRPr>
          </a:p>
        </p:txBody>
      </p:sp>
      <p:sp>
        <p:nvSpPr>
          <p:cNvPr id="33" name="Oval 34"/>
          <p:cNvSpPr>
            <a:spLocks noChangeArrowheads="1"/>
          </p:cNvSpPr>
          <p:nvPr/>
        </p:nvSpPr>
        <p:spPr bwMode="auto">
          <a:xfrm>
            <a:off x="7588250" y="3222173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FF"/>
              </a:solidFill>
            </a:endParaRPr>
          </a:p>
        </p:txBody>
      </p:sp>
      <p:cxnSp>
        <p:nvCxnSpPr>
          <p:cNvPr id="34" name="AutoShape 37"/>
          <p:cNvCxnSpPr>
            <a:cxnSpLocks noChangeShapeType="1"/>
            <a:stCxn id="9" idx="4"/>
            <a:endCxn id="26" idx="0"/>
          </p:cNvCxnSpPr>
          <p:nvPr/>
        </p:nvCxnSpPr>
        <p:spPr bwMode="auto">
          <a:xfrm>
            <a:off x="2862263" y="3018973"/>
            <a:ext cx="0" cy="188912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38"/>
          <p:cNvCxnSpPr>
            <a:cxnSpLocks noChangeShapeType="1"/>
            <a:stCxn id="26" idx="4"/>
            <a:endCxn id="27" idx="0"/>
          </p:cNvCxnSpPr>
          <p:nvPr/>
        </p:nvCxnSpPr>
        <p:spPr bwMode="auto">
          <a:xfrm>
            <a:off x="2862263" y="3776210"/>
            <a:ext cx="0" cy="187325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AutoShape 39"/>
          <p:cNvCxnSpPr>
            <a:cxnSpLocks noChangeShapeType="1"/>
            <a:stCxn id="27" idx="4"/>
            <a:endCxn id="28" idx="0"/>
          </p:cNvCxnSpPr>
          <p:nvPr/>
        </p:nvCxnSpPr>
        <p:spPr bwMode="auto">
          <a:xfrm>
            <a:off x="2862263" y="4531860"/>
            <a:ext cx="0" cy="187325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40"/>
          <p:cNvSpPr>
            <a:spLocks noChangeArrowheads="1"/>
          </p:cNvSpPr>
          <p:nvPr/>
        </p:nvSpPr>
        <p:spPr bwMode="auto">
          <a:xfrm>
            <a:off x="7588250" y="3977823"/>
            <a:ext cx="539750" cy="539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>
              <a:solidFill>
                <a:srgbClr val="0000FF"/>
              </a:solidFill>
            </a:endParaRPr>
          </a:p>
        </p:txBody>
      </p:sp>
      <p:cxnSp>
        <p:nvCxnSpPr>
          <p:cNvPr id="38" name="AutoShape 41"/>
          <p:cNvCxnSpPr>
            <a:cxnSpLocks noChangeShapeType="1"/>
            <a:stCxn id="16" idx="4"/>
            <a:endCxn id="33" idx="0"/>
          </p:cNvCxnSpPr>
          <p:nvPr/>
        </p:nvCxnSpPr>
        <p:spPr bwMode="auto">
          <a:xfrm>
            <a:off x="7858125" y="3030085"/>
            <a:ext cx="0" cy="1778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42"/>
          <p:cNvCxnSpPr>
            <a:cxnSpLocks noChangeShapeType="1"/>
            <a:stCxn id="33" idx="4"/>
            <a:endCxn id="37" idx="0"/>
          </p:cNvCxnSpPr>
          <p:nvPr/>
        </p:nvCxnSpPr>
        <p:spPr bwMode="auto">
          <a:xfrm>
            <a:off x="7858125" y="3776210"/>
            <a:ext cx="0" cy="1873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43"/>
          <p:cNvCxnSpPr>
            <a:cxnSpLocks noChangeShapeType="1"/>
            <a:stCxn id="37" idx="4"/>
            <a:endCxn id="32" idx="0"/>
          </p:cNvCxnSpPr>
          <p:nvPr/>
        </p:nvCxnSpPr>
        <p:spPr bwMode="auto">
          <a:xfrm>
            <a:off x="7858125" y="4531860"/>
            <a:ext cx="0" cy="1873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 Box 50"/>
          <p:cNvSpPr txBox="1">
            <a:spLocks noChangeArrowheads="1"/>
          </p:cNvSpPr>
          <p:nvPr/>
        </p:nvSpPr>
        <p:spPr bwMode="auto">
          <a:xfrm>
            <a:off x="7226300" y="2483985"/>
            <a:ext cx="45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latin typeface="Arial" pitchFamily="34" charset="0"/>
              </a:rPr>
              <a:t>…</a:t>
            </a:r>
            <a:endParaRPr lang="en-US" altLang="zh-CN" sz="1800" b="1">
              <a:solidFill>
                <a:srgbClr val="0000FF"/>
              </a:solidFill>
            </a:endParaRPr>
          </a:p>
        </p:txBody>
      </p:sp>
      <p:sp>
        <p:nvSpPr>
          <p:cNvPr id="47" name="Text Box 51"/>
          <p:cNvSpPr txBox="1">
            <a:spLocks noChangeArrowheads="1"/>
          </p:cNvSpPr>
          <p:nvPr/>
        </p:nvSpPr>
        <p:spPr bwMode="auto">
          <a:xfrm>
            <a:off x="8081963" y="2483985"/>
            <a:ext cx="45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latin typeface="Arial" pitchFamily="34" charset="0"/>
              </a:rPr>
              <a:t>…</a:t>
            </a:r>
            <a:endParaRPr lang="en-US" altLang="zh-CN" sz="1800" b="1">
              <a:solidFill>
                <a:srgbClr val="0000FF"/>
              </a:solidFill>
            </a:endParaRPr>
          </a:p>
        </p:txBody>
      </p:sp>
      <p:sp>
        <p:nvSpPr>
          <p:cNvPr id="48" name="Line 52"/>
          <p:cNvSpPr>
            <a:spLocks noChangeShapeType="1"/>
          </p:cNvSpPr>
          <p:nvPr/>
        </p:nvSpPr>
        <p:spPr bwMode="auto">
          <a:xfrm>
            <a:off x="1827213" y="5454198"/>
            <a:ext cx="0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53"/>
          <p:cNvSpPr>
            <a:spLocks noChangeShapeType="1"/>
          </p:cNvSpPr>
          <p:nvPr/>
        </p:nvSpPr>
        <p:spPr bwMode="auto">
          <a:xfrm>
            <a:off x="6372225" y="5454198"/>
            <a:ext cx="0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54"/>
          <p:cNvSpPr>
            <a:spLocks noChangeShapeType="1"/>
          </p:cNvSpPr>
          <p:nvPr/>
        </p:nvSpPr>
        <p:spPr bwMode="auto">
          <a:xfrm>
            <a:off x="9028113" y="5454198"/>
            <a:ext cx="0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55"/>
          <p:cNvSpPr>
            <a:spLocks noChangeShapeType="1"/>
          </p:cNvSpPr>
          <p:nvPr/>
        </p:nvSpPr>
        <p:spPr bwMode="auto">
          <a:xfrm>
            <a:off x="1827213" y="5724073"/>
            <a:ext cx="45450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56"/>
          <p:cNvSpPr>
            <a:spLocks noChangeShapeType="1"/>
          </p:cNvSpPr>
          <p:nvPr/>
        </p:nvSpPr>
        <p:spPr bwMode="auto">
          <a:xfrm>
            <a:off x="6372225" y="5724073"/>
            <a:ext cx="2655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Text Box 57"/>
          <p:cNvSpPr txBox="1">
            <a:spLocks noChangeArrowheads="1"/>
          </p:cNvSpPr>
          <p:nvPr/>
        </p:nvSpPr>
        <p:spPr bwMode="auto">
          <a:xfrm>
            <a:off x="2860675" y="5363710"/>
            <a:ext cx="2925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>
                <a:solidFill>
                  <a:srgbClr val="FF00FF"/>
                </a:solidFill>
              </a:rPr>
              <a:t>Generic domains</a:t>
            </a:r>
          </a:p>
        </p:txBody>
      </p:sp>
      <p:sp>
        <p:nvSpPr>
          <p:cNvPr id="54" name="Text Box 59"/>
          <p:cNvSpPr txBox="1">
            <a:spLocks noChangeArrowheads="1"/>
          </p:cNvSpPr>
          <p:nvPr/>
        </p:nvSpPr>
        <p:spPr bwMode="auto">
          <a:xfrm>
            <a:off x="560927" y="2437948"/>
            <a:ext cx="11509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hlink"/>
                </a:solidFill>
              </a:rPr>
              <a:t>Top level domains</a:t>
            </a:r>
          </a:p>
        </p:txBody>
      </p:sp>
      <p:sp>
        <p:nvSpPr>
          <p:cNvPr id="55" name="Text Box 60"/>
          <p:cNvSpPr txBox="1">
            <a:spLocks noChangeArrowheads="1"/>
          </p:cNvSpPr>
          <p:nvPr/>
        </p:nvSpPr>
        <p:spPr bwMode="auto">
          <a:xfrm>
            <a:off x="568288" y="3180898"/>
            <a:ext cx="11509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hlink"/>
                </a:solidFill>
              </a:rPr>
              <a:t>2nd level domains</a:t>
            </a:r>
          </a:p>
        </p:txBody>
      </p:sp>
      <p:sp>
        <p:nvSpPr>
          <p:cNvPr id="66" name="Line 71"/>
          <p:cNvSpPr>
            <a:spLocks noChangeShapeType="1"/>
          </p:cNvSpPr>
          <p:nvPr/>
        </p:nvSpPr>
        <p:spPr bwMode="auto">
          <a:xfrm flipH="1">
            <a:off x="2682875" y="4508048"/>
            <a:ext cx="179388" cy="1793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72"/>
          <p:cNvSpPr>
            <a:spLocks noChangeShapeType="1"/>
          </p:cNvSpPr>
          <p:nvPr/>
        </p:nvSpPr>
        <p:spPr bwMode="auto">
          <a:xfrm>
            <a:off x="2862263" y="4508048"/>
            <a:ext cx="179387" cy="1793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73"/>
          <p:cNvSpPr>
            <a:spLocks noChangeShapeType="1"/>
          </p:cNvSpPr>
          <p:nvPr/>
        </p:nvSpPr>
        <p:spPr bwMode="auto">
          <a:xfrm flipH="1">
            <a:off x="2681288" y="3742873"/>
            <a:ext cx="179387" cy="1793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74"/>
          <p:cNvSpPr>
            <a:spLocks noChangeShapeType="1"/>
          </p:cNvSpPr>
          <p:nvPr/>
        </p:nvSpPr>
        <p:spPr bwMode="auto">
          <a:xfrm>
            <a:off x="2860675" y="3742873"/>
            <a:ext cx="179388" cy="1793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75"/>
          <p:cNvSpPr>
            <a:spLocks noChangeShapeType="1"/>
          </p:cNvSpPr>
          <p:nvPr/>
        </p:nvSpPr>
        <p:spPr bwMode="auto">
          <a:xfrm flipH="1">
            <a:off x="2681288" y="3023735"/>
            <a:ext cx="179387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76"/>
          <p:cNvSpPr>
            <a:spLocks noChangeShapeType="1"/>
          </p:cNvSpPr>
          <p:nvPr/>
        </p:nvSpPr>
        <p:spPr bwMode="auto">
          <a:xfrm>
            <a:off x="2860675" y="3023735"/>
            <a:ext cx="179388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77"/>
          <p:cNvSpPr>
            <a:spLocks noChangeShapeType="1"/>
          </p:cNvSpPr>
          <p:nvPr/>
        </p:nvSpPr>
        <p:spPr bwMode="auto">
          <a:xfrm flipH="1">
            <a:off x="7677150" y="4508048"/>
            <a:ext cx="179388" cy="1793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78"/>
          <p:cNvSpPr>
            <a:spLocks noChangeShapeType="1"/>
          </p:cNvSpPr>
          <p:nvPr/>
        </p:nvSpPr>
        <p:spPr bwMode="auto">
          <a:xfrm>
            <a:off x="7856538" y="4508048"/>
            <a:ext cx="179387" cy="1793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79"/>
          <p:cNvSpPr>
            <a:spLocks noChangeShapeType="1"/>
          </p:cNvSpPr>
          <p:nvPr/>
        </p:nvSpPr>
        <p:spPr bwMode="auto">
          <a:xfrm flipH="1">
            <a:off x="7677150" y="3742873"/>
            <a:ext cx="179388" cy="1793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80"/>
          <p:cNvSpPr>
            <a:spLocks noChangeShapeType="1"/>
          </p:cNvSpPr>
          <p:nvPr/>
        </p:nvSpPr>
        <p:spPr bwMode="auto">
          <a:xfrm>
            <a:off x="7856538" y="3742873"/>
            <a:ext cx="179387" cy="1793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81"/>
          <p:cNvSpPr>
            <a:spLocks noChangeShapeType="1"/>
          </p:cNvSpPr>
          <p:nvPr/>
        </p:nvSpPr>
        <p:spPr bwMode="auto">
          <a:xfrm flipH="1">
            <a:off x="7678738" y="3023735"/>
            <a:ext cx="179387" cy="1793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Line 82"/>
          <p:cNvSpPr>
            <a:spLocks noChangeShapeType="1"/>
          </p:cNvSpPr>
          <p:nvPr/>
        </p:nvSpPr>
        <p:spPr bwMode="auto">
          <a:xfrm>
            <a:off x="7858125" y="3023735"/>
            <a:ext cx="179388" cy="1793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78" name="AutoShape 83"/>
          <p:cNvCxnSpPr>
            <a:cxnSpLocks noChangeShapeType="1"/>
          </p:cNvCxnSpPr>
          <p:nvPr/>
        </p:nvCxnSpPr>
        <p:spPr bwMode="auto">
          <a:xfrm>
            <a:off x="7000875" y="3030085"/>
            <a:ext cx="0" cy="1778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Line 84"/>
          <p:cNvSpPr>
            <a:spLocks noChangeShapeType="1"/>
          </p:cNvSpPr>
          <p:nvPr/>
        </p:nvSpPr>
        <p:spPr bwMode="auto">
          <a:xfrm flipH="1">
            <a:off x="6821488" y="3023735"/>
            <a:ext cx="179387" cy="1793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85"/>
          <p:cNvSpPr>
            <a:spLocks noChangeShapeType="1"/>
          </p:cNvSpPr>
          <p:nvPr/>
        </p:nvSpPr>
        <p:spPr bwMode="auto">
          <a:xfrm>
            <a:off x="7000875" y="3023735"/>
            <a:ext cx="179388" cy="1793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1" name="AutoShape 86"/>
          <p:cNvCxnSpPr>
            <a:cxnSpLocks noChangeShapeType="1"/>
          </p:cNvCxnSpPr>
          <p:nvPr/>
        </p:nvCxnSpPr>
        <p:spPr bwMode="auto">
          <a:xfrm>
            <a:off x="8713788" y="3030085"/>
            <a:ext cx="0" cy="1778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" name="Line 87"/>
          <p:cNvSpPr>
            <a:spLocks noChangeShapeType="1"/>
          </p:cNvSpPr>
          <p:nvPr/>
        </p:nvSpPr>
        <p:spPr bwMode="auto">
          <a:xfrm flipH="1">
            <a:off x="8534400" y="3023735"/>
            <a:ext cx="179388" cy="1793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88"/>
          <p:cNvSpPr>
            <a:spLocks noChangeShapeType="1"/>
          </p:cNvSpPr>
          <p:nvPr/>
        </p:nvSpPr>
        <p:spPr bwMode="auto">
          <a:xfrm>
            <a:off x="8713788" y="3023735"/>
            <a:ext cx="179387" cy="1793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4" name="AutoShape 89"/>
          <p:cNvCxnSpPr>
            <a:cxnSpLocks noChangeShapeType="1"/>
          </p:cNvCxnSpPr>
          <p:nvPr/>
        </p:nvCxnSpPr>
        <p:spPr bwMode="auto">
          <a:xfrm>
            <a:off x="6057900" y="3030085"/>
            <a:ext cx="0" cy="177800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" name="Line 90"/>
          <p:cNvSpPr>
            <a:spLocks noChangeShapeType="1"/>
          </p:cNvSpPr>
          <p:nvPr/>
        </p:nvSpPr>
        <p:spPr bwMode="auto">
          <a:xfrm flipH="1">
            <a:off x="5878513" y="3023735"/>
            <a:ext cx="179387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91"/>
          <p:cNvSpPr>
            <a:spLocks noChangeShapeType="1"/>
          </p:cNvSpPr>
          <p:nvPr/>
        </p:nvSpPr>
        <p:spPr bwMode="auto">
          <a:xfrm>
            <a:off x="6057900" y="3023735"/>
            <a:ext cx="179388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7" name="AutoShape 92"/>
          <p:cNvCxnSpPr>
            <a:cxnSpLocks noChangeShapeType="1"/>
          </p:cNvCxnSpPr>
          <p:nvPr/>
        </p:nvCxnSpPr>
        <p:spPr bwMode="auto">
          <a:xfrm>
            <a:off x="5426075" y="3030085"/>
            <a:ext cx="0" cy="177800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Line 93"/>
          <p:cNvSpPr>
            <a:spLocks noChangeShapeType="1"/>
          </p:cNvSpPr>
          <p:nvPr/>
        </p:nvSpPr>
        <p:spPr bwMode="auto">
          <a:xfrm flipH="1">
            <a:off x="5246688" y="3023735"/>
            <a:ext cx="179387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94"/>
          <p:cNvSpPr>
            <a:spLocks noChangeShapeType="1"/>
          </p:cNvSpPr>
          <p:nvPr/>
        </p:nvSpPr>
        <p:spPr bwMode="auto">
          <a:xfrm>
            <a:off x="5426075" y="3023735"/>
            <a:ext cx="179388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0" name="AutoShape 95"/>
          <p:cNvCxnSpPr>
            <a:cxnSpLocks noChangeShapeType="1"/>
          </p:cNvCxnSpPr>
          <p:nvPr/>
        </p:nvCxnSpPr>
        <p:spPr bwMode="auto">
          <a:xfrm>
            <a:off x="4797425" y="3030085"/>
            <a:ext cx="0" cy="177800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" name="Line 96"/>
          <p:cNvSpPr>
            <a:spLocks noChangeShapeType="1"/>
          </p:cNvSpPr>
          <p:nvPr/>
        </p:nvSpPr>
        <p:spPr bwMode="auto">
          <a:xfrm flipH="1">
            <a:off x="4618038" y="3023735"/>
            <a:ext cx="179387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Line 97"/>
          <p:cNvSpPr>
            <a:spLocks noChangeShapeType="1"/>
          </p:cNvSpPr>
          <p:nvPr/>
        </p:nvSpPr>
        <p:spPr bwMode="auto">
          <a:xfrm>
            <a:off x="4797425" y="3023735"/>
            <a:ext cx="179388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3" name="AutoShape 98"/>
          <p:cNvCxnSpPr>
            <a:cxnSpLocks noChangeShapeType="1"/>
          </p:cNvCxnSpPr>
          <p:nvPr/>
        </p:nvCxnSpPr>
        <p:spPr bwMode="auto">
          <a:xfrm>
            <a:off x="4167188" y="3030085"/>
            <a:ext cx="0" cy="177800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" name="Line 99"/>
          <p:cNvSpPr>
            <a:spLocks noChangeShapeType="1"/>
          </p:cNvSpPr>
          <p:nvPr/>
        </p:nvSpPr>
        <p:spPr bwMode="auto">
          <a:xfrm flipH="1">
            <a:off x="3987800" y="3023735"/>
            <a:ext cx="179388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Line 100"/>
          <p:cNvSpPr>
            <a:spLocks noChangeShapeType="1"/>
          </p:cNvSpPr>
          <p:nvPr/>
        </p:nvSpPr>
        <p:spPr bwMode="auto">
          <a:xfrm>
            <a:off x="4167188" y="3023735"/>
            <a:ext cx="179387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6" name="AutoShape 101"/>
          <p:cNvCxnSpPr>
            <a:cxnSpLocks noChangeShapeType="1"/>
          </p:cNvCxnSpPr>
          <p:nvPr/>
        </p:nvCxnSpPr>
        <p:spPr bwMode="auto">
          <a:xfrm>
            <a:off x="3536950" y="3030085"/>
            <a:ext cx="0" cy="177800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" name="Line 102"/>
          <p:cNvSpPr>
            <a:spLocks noChangeShapeType="1"/>
          </p:cNvSpPr>
          <p:nvPr/>
        </p:nvSpPr>
        <p:spPr bwMode="auto">
          <a:xfrm flipH="1">
            <a:off x="3357563" y="3023735"/>
            <a:ext cx="179387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Line 103"/>
          <p:cNvSpPr>
            <a:spLocks noChangeShapeType="1"/>
          </p:cNvSpPr>
          <p:nvPr/>
        </p:nvSpPr>
        <p:spPr bwMode="auto">
          <a:xfrm>
            <a:off x="3536950" y="3023735"/>
            <a:ext cx="179388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9" name="AutoShape 104"/>
          <p:cNvCxnSpPr>
            <a:cxnSpLocks noChangeShapeType="1"/>
          </p:cNvCxnSpPr>
          <p:nvPr/>
        </p:nvCxnSpPr>
        <p:spPr bwMode="auto">
          <a:xfrm>
            <a:off x="2185988" y="3030085"/>
            <a:ext cx="0" cy="177800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" name="Line 105"/>
          <p:cNvSpPr>
            <a:spLocks noChangeShapeType="1"/>
          </p:cNvSpPr>
          <p:nvPr/>
        </p:nvSpPr>
        <p:spPr bwMode="auto">
          <a:xfrm flipH="1">
            <a:off x="2006600" y="3023735"/>
            <a:ext cx="179388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Line 106"/>
          <p:cNvSpPr>
            <a:spLocks noChangeShapeType="1"/>
          </p:cNvSpPr>
          <p:nvPr/>
        </p:nvSpPr>
        <p:spPr bwMode="auto">
          <a:xfrm>
            <a:off x="2185988" y="3023735"/>
            <a:ext cx="179387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Line 107"/>
          <p:cNvSpPr>
            <a:spLocks noChangeShapeType="1"/>
          </p:cNvSpPr>
          <p:nvPr/>
        </p:nvSpPr>
        <p:spPr bwMode="auto">
          <a:xfrm flipH="1">
            <a:off x="4221163" y="2258560"/>
            <a:ext cx="749300" cy="225425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Line 108"/>
          <p:cNvSpPr>
            <a:spLocks noChangeShapeType="1"/>
          </p:cNvSpPr>
          <p:nvPr/>
        </p:nvSpPr>
        <p:spPr bwMode="auto">
          <a:xfrm>
            <a:off x="5157788" y="2258560"/>
            <a:ext cx="793750" cy="225425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109"/>
          <p:cNvSpPr>
            <a:spLocks noChangeShapeType="1"/>
          </p:cNvSpPr>
          <p:nvPr/>
        </p:nvSpPr>
        <p:spPr bwMode="auto">
          <a:xfrm flipH="1">
            <a:off x="2906713" y="2123623"/>
            <a:ext cx="1890712" cy="360362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Line 110"/>
          <p:cNvSpPr>
            <a:spLocks noChangeShapeType="1"/>
          </p:cNvSpPr>
          <p:nvPr/>
        </p:nvSpPr>
        <p:spPr bwMode="auto">
          <a:xfrm flipH="1">
            <a:off x="2185988" y="2033135"/>
            <a:ext cx="2611437" cy="45085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Line 111"/>
          <p:cNvSpPr>
            <a:spLocks noChangeShapeType="1"/>
          </p:cNvSpPr>
          <p:nvPr/>
        </p:nvSpPr>
        <p:spPr bwMode="auto">
          <a:xfrm>
            <a:off x="5337175" y="2079173"/>
            <a:ext cx="2474913" cy="4048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Text Box 114"/>
          <p:cNvSpPr txBox="1">
            <a:spLocks noChangeArrowheads="1"/>
          </p:cNvSpPr>
          <p:nvPr/>
        </p:nvSpPr>
        <p:spPr bwMode="auto">
          <a:xfrm>
            <a:off x="3446463" y="4779510"/>
            <a:ext cx="1755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/>
              <a:t>xx.cs.mit.edu</a:t>
            </a:r>
          </a:p>
        </p:txBody>
      </p:sp>
      <p:sp>
        <p:nvSpPr>
          <p:cNvPr id="109" name="Line 115"/>
          <p:cNvSpPr>
            <a:spLocks noChangeShapeType="1"/>
          </p:cNvSpPr>
          <p:nvPr/>
        </p:nvSpPr>
        <p:spPr bwMode="auto">
          <a:xfrm flipH="1">
            <a:off x="3222625" y="5003348"/>
            <a:ext cx="269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Text Box 116"/>
          <p:cNvSpPr txBox="1">
            <a:spLocks noChangeArrowheads="1"/>
          </p:cNvSpPr>
          <p:nvPr/>
        </p:nvSpPr>
        <p:spPr bwMode="auto">
          <a:xfrm>
            <a:off x="5561013" y="4779510"/>
            <a:ext cx="1755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/>
              <a:t>cs.bupt.edu.cn</a:t>
            </a:r>
          </a:p>
        </p:txBody>
      </p:sp>
      <p:sp>
        <p:nvSpPr>
          <p:cNvPr id="111" name="Line 117"/>
          <p:cNvSpPr>
            <a:spLocks noChangeShapeType="1"/>
          </p:cNvSpPr>
          <p:nvPr/>
        </p:nvSpPr>
        <p:spPr bwMode="auto">
          <a:xfrm>
            <a:off x="7227888" y="5003348"/>
            <a:ext cx="269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6" name="组合 115"/>
          <p:cNvGrpSpPr/>
          <p:nvPr/>
        </p:nvGrpSpPr>
        <p:grpSpPr>
          <a:xfrm>
            <a:off x="5516563" y="1628800"/>
            <a:ext cx="3042902" cy="366712"/>
            <a:chOff x="5516563" y="1628800"/>
            <a:chExt cx="3042902" cy="366712"/>
          </a:xfrm>
        </p:grpSpPr>
        <p:sp>
          <p:nvSpPr>
            <p:cNvPr id="107" name="Line 113"/>
            <p:cNvSpPr>
              <a:spLocks noChangeShapeType="1"/>
            </p:cNvSpPr>
            <p:nvPr/>
          </p:nvSpPr>
          <p:spPr bwMode="auto">
            <a:xfrm flipH="1">
              <a:off x="5516563" y="1853748"/>
              <a:ext cx="90011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Text Box 112"/>
            <p:cNvSpPr txBox="1">
              <a:spLocks noChangeArrowheads="1"/>
            </p:cNvSpPr>
            <p:nvPr/>
          </p:nvSpPr>
          <p:spPr bwMode="auto">
            <a:xfrm>
              <a:off x="5832140" y="1628800"/>
              <a:ext cx="27273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i="1" dirty="0">
                  <a:solidFill>
                    <a:schemeClr val="hlink"/>
                  </a:solidFill>
                </a:rPr>
                <a:t>Unnamed root</a:t>
              </a:r>
            </a:p>
          </p:txBody>
        </p:sp>
      </p:grpSp>
      <p:sp>
        <p:nvSpPr>
          <p:cNvPr id="117" name="Text Box 58"/>
          <p:cNvSpPr txBox="1">
            <a:spLocks noChangeArrowheads="1"/>
          </p:cNvSpPr>
          <p:nvPr/>
        </p:nvSpPr>
        <p:spPr bwMode="auto">
          <a:xfrm>
            <a:off x="6417205" y="5364215"/>
            <a:ext cx="2925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rgbClr val="0000FF"/>
                </a:solidFill>
              </a:rPr>
              <a:t>Country domains</a:t>
            </a:r>
          </a:p>
        </p:txBody>
      </p:sp>
    </p:spTree>
    <p:extLst>
      <p:ext uri="{BB962C8B-B14F-4D97-AF65-F5344CB8AC3E}">
        <p14:creationId xmlns:p14="http://schemas.microsoft.com/office/powerpoint/2010/main" val="360553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 animBg="1"/>
      <p:bldP spid="110" grpId="0"/>
      <p:bldP spid="1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Name Servers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Name servers are the </a:t>
            </a:r>
            <a:r>
              <a:rPr lang="en-US" altLang="zh-CN" dirty="0">
                <a:solidFill>
                  <a:schemeClr val="tx2"/>
                </a:solidFill>
              </a:rPr>
              <a:t>repositories</a:t>
            </a:r>
            <a:r>
              <a:rPr lang="en-US" altLang="zh-CN" dirty="0"/>
              <a:t> of information that make up the domain database. </a:t>
            </a:r>
          </a:p>
          <a:p>
            <a:r>
              <a:rPr lang="en-US" altLang="zh-CN" dirty="0"/>
              <a:t>Answering queries about name information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085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 Clients: Resolvers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6625" y="189883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The </a:t>
            </a:r>
            <a:r>
              <a:rPr lang="en-US" altLang="zh-CN" sz="2800" dirty="0">
                <a:solidFill>
                  <a:schemeClr val="hlink"/>
                </a:solidFill>
              </a:rPr>
              <a:t>interface</a:t>
            </a:r>
            <a:r>
              <a:rPr lang="en-US" altLang="zh-CN" sz="2800" dirty="0"/>
              <a:t> between the user program and the domain name servers</a:t>
            </a:r>
          </a:p>
          <a:p>
            <a:pPr lvl="1" eaLnBrk="1" hangingPunct="1"/>
            <a:r>
              <a:rPr lang="en-US" altLang="zh-CN" sz="2400" dirty="0"/>
              <a:t>A resolver receives a request from a user program (e.g., HTTP, mail programs, TELNET, FTP</a:t>
            </a:r>
            <a:r>
              <a:rPr lang="zh-CN" altLang="en-US" sz="2400" dirty="0"/>
              <a:t>，</a:t>
            </a:r>
            <a:r>
              <a:rPr lang="en-US" altLang="zh-CN" sz="2400" dirty="0"/>
              <a:t>Ping) </a:t>
            </a:r>
          </a:p>
          <a:p>
            <a:pPr lvl="1" eaLnBrk="1" hangingPunct="1"/>
            <a:r>
              <a:rPr lang="en-US" altLang="zh-CN" sz="2400" dirty="0"/>
              <a:t>Asks questions to the DNS system on behalf of the application</a:t>
            </a:r>
          </a:p>
          <a:p>
            <a:pPr lvl="1" eaLnBrk="1" hangingPunct="1"/>
            <a:r>
              <a:rPr lang="en-US" altLang="zh-CN" sz="2400" dirty="0"/>
              <a:t>And returns the desired information 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7680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489C241-3B8A-4C51-B67B-9908224AA85E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514" y="252699"/>
            <a:ext cx="7793037" cy="1307740"/>
          </a:xfrm>
        </p:spPr>
        <p:txBody>
          <a:bodyPr/>
          <a:lstStyle/>
          <a:p>
            <a:pPr eaLnBrk="1" hangingPunct="1"/>
            <a:r>
              <a:rPr lang="en-US" altLang="zh-CN" sz="3600" dirty="0" err="1"/>
              <a:t>eg</a:t>
            </a:r>
            <a:r>
              <a:rPr lang="en-US" altLang="zh-CN" sz="3600" dirty="0"/>
              <a:t>. DNS working together with the HTTP application</a:t>
            </a:r>
            <a:endParaRPr lang="en-US" altLang="zh-CN" sz="2800" dirty="0"/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927100" y="2347060"/>
            <a:ext cx="3419475" cy="2881313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24613" name="Rectangle 5"/>
          <p:cNvSpPr>
            <a:spLocks noChangeArrowheads="1"/>
          </p:cNvSpPr>
          <p:nvPr/>
        </p:nvSpPr>
        <p:spPr bwMode="auto">
          <a:xfrm>
            <a:off x="1150938" y="2528035"/>
            <a:ext cx="2970212" cy="404813"/>
          </a:xfrm>
          <a:prstGeom prst="rect">
            <a:avLst/>
          </a:prstGeom>
          <a:solidFill>
            <a:srgbClr val="DDDDDD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User types in or click on a URL</a:t>
            </a:r>
          </a:p>
        </p:txBody>
      </p:sp>
      <p:sp>
        <p:nvSpPr>
          <p:cNvPr id="324614" name="Rectangle 6"/>
          <p:cNvSpPr>
            <a:spLocks noChangeArrowheads="1"/>
          </p:cNvSpPr>
          <p:nvPr/>
        </p:nvSpPr>
        <p:spPr bwMode="auto">
          <a:xfrm>
            <a:off x="1150938" y="3202723"/>
            <a:ext cx="2971800" cy="404812"/>
          </a:xfrm>
          <a:prstGeom prst="rect">
            <a:avLst/>
          </a:prstGeom>
          <a:solidFill>
            <a:srgbClr val="DDDDDD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Browser extracts the site name</a:t>
            </a:r>
          </a:p>
        </p:txBody>
      </p:sp>
      <p:sp>
        <p:nvSpPr>
          <p:cNvPr id="324615" name="Rectangle 7"/>
          <p:cNvSpPr>
            <a:spLocks noChangeArrowheads="1"/>
          </p:cNvSpPr>
          <p:nvPr/>
        </p:nvSpPr>
        <p:spPr bwMode="auto">
          <a:xfrm>
            <a:off x="1150938" y="3878998"/>
            <a:ext cx="2971800" cy="493712"/>
          </a:xfrm>
          <a:prstGeom prst="rect">
            <a:avLst/>
          </a:prstGeom>
          <a:solidFill>
            <a:srgbClr val="DDDDDD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/>
              <a:t>Browser calls resolver to learn IP address</a:t>
            </a:r>
          </a:p>
        </p:txBody>
      </p:sp>
      <p:sp>
        <p:nvSpPr>
          <p:cNvPr id="27657" name="Rectangle 8"/>
          <p:cNvSpPr>
            <a:spLocks noChangeArrowheads="1"/>
          </p:cNvSpPr>
          <p:nvPr/>
        </p:nvSpPr>
        <p:spPr bwMode="auto">
          <a:xfrm>
            <a:off x="4976813" y="3742473"/>
            <a:ext cx="3421062" cy="1531937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24617" name="Rectangle 9"/>
          <p:cNvSpPr>
            <a:spLocks noChangeArrowheads="1"/>
          </p:cNvSpPr>
          <p:nvPr/>
        </p:nvSpPr>
        <p:spPr bwMode="auto">
          <a:xfrm>
            <a:off x="5202238" y="3923448"/>
            <a:ext cx="2970212" cy="404812"/>
          </a:xfrm>
          <a:prstGeom prst="rect">
            <a:avLst/>
          </a:prstGeom>
          <a:solidFill>
            <a:srgbClr val="DDDDDD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Query the local DNS server</a:t>
            </a:r>
          </a:p>
        </p:txBody>
      </p:sp>
      <p:sp>
        <p:nvSpPr>
          <p:cNvPr id="324618" name="Rectangle 10"/>
          <p:cNvSpPr>
            <a:spLocks noChangeArrowheads="1"/>
          </p:cNvSpPr>
          <p:nvPr/>
        </p:nvSpPr>
        <p:spPr bwMode="auto">
          <a:xfrm>
            <a:off x="5202238" y="4688623"/>
            <a:ext cx="2970212" cy="404812"/>
          </a:xfrm>
          <a:prstGeom prst="rect">
            <a:avLst/>
          </a:prstGeom>
          <a:solidFill>
            <a:srgbClr val="DDDDDD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Gets a reply</a:t>
            </a:r>
          </a:p>
        </p:txBody>
      </p:sp>
      <p:cxnSp>
        <p:nvCxnSpPr>
          <p:cNvPr id="324619" name="AutoShape 11"/>
          <p:cNvCxnSpPr>
            <a:cxnSpLocks noChangeShapeType="1"/>
            <a:stCxn id="324613" idx="2"/>
            <a:endCxn id="324614" idx="0"/>
          </p:cNvCxnSpPr>
          <p:nvPr/>
        </p:nvCxnSpPr>
        <p:spPr bwMode="auto">
          <a:xfrm>
            <a:off x="2636838" y="2947135"/>
            <a:ext cx="0" cy="2413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4620" name="AutoShape 12"/>
          <p:cNvCxnSpPr>
            <a:cxnSpLocks noChangeShapeType="1"/>
            <a:stCxn id="324614" idx="2"/>
            <a:endCxn id="324615" idx="0"/>
          </p:cNvCxnSpPr>
          <p:nvPr/>
        </p:nvCxnSpPr>
        <p:spPr bwMode="auto">
          <a:xfrm>
            <a:off x="2636838" y="3621823"/>
            <a:ext cx="0" cy="2428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4621" name="AutoShape 13"/>
          <p:cNvCxnSpPr>
            <a:cxnSpLocks noChangeShapeType="1"/>
            <a:stCxn id="324615" idx="3"/>
            <a:endCxn id="324617" idx="1"/>
          </p:cNvCxnSpPr>
          <p:nvPr/>
        </p:nvCxnSpPr>
        <p:spPr bwMode="auto">
          <a:xfrm>
            <a:off x="4137025" y="4126648"/>
            <a:ext cx="1050925" cy="0"/>
          </a:xfrm>
          <a:prstGeom prst="straightConnector1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4622" name="AutoShape 14"/>
          <p:cNvCxnSpPr>
            <a:cxnSpLocks noChangeShapeType="1"/>
            <a:stCxn id="324617" idx="2"/>
            <a:endCxn id="324618" idx="0"/>
          </p:cNvCxnSpPr>
          <p:nvPr/>
        </p:nvCxnSpPr>
        <p:spPr bwMode="auto">
          <a:xfrm>
            <a:off x="6688138" y="4342548"/>
            <a:ext cx="0" cy="3317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5111750" y="5768123"/>
            <a:ext cx="3149600" cy="720725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7665" name="Text Box 20"/>
          <p:cNvSpPr txBox="1">
            <a:spLocks noChangeArrowheads="1"/>
          </p:cNvSpPr>
          <p:nvPr/>
        </p:nvSpPr>
        <p:spPr bwMode="auto">
          <a:xfrm>
            <a:off x="1286635" y="1862636"/>
            <a:ext cx="2293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hlink"/>
                </a:solidFill>
              </a:rPr>
              <a:t>Browser</a:t>
            </a:r>
          </a:p>
        </p:txBody>
      </p:sp>
      <p:sp>
        <p:nvSpPr>
          <p:cNvPr id="27666" name="Text Box 21"/>
          <p:cNvSpPr txBox="1">
            <a:spLocks noChangeArrowheads="1"/>
          </p:cNvSpPr>
          <p:nvPr/>
        </p:nvSpPr>
        <p:spPr bwMode="auto">
          <a:xfrm>
            <a:off x="5539581" y="3238442"/>
            <a:ext cx="2293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hlink"/>
                </a:solidFill>
              </a:rPr>
              <a:t>Resolver</a:t>
            </a:r>
          </a:p>
        </p:txBody>
      </p:sp>
      <p:sp>
        <p:nvSpPr>
          <p:cNvPr id="27667" name="Text Box 22"/>
          <p:cNvSpPr txBox="1">
            <a:spLocks noChangeArrowheads="1"/>
          </p:cNvSpPr>
          <p:nvPr/>
        </p:nvSpPr>
        <p:spPr bwMode="auto">
          <a:xfrm>
            <a:off x="5630069" y="5860001"/>
            <a:ext cx="2293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hlink"/>
                </a:solidFill>
              </a:rPr>
              <a:t>Web server</a:t>
            </a:r>
          </a:p>
        </p:txBody>
      </p:sp>
      <p:sp>
        <p:nvSpPr>
          <p:cNvPr id="324632" name="Rectangle 24"/>
          <p:cNvSpPr>
            <a:spLocks noChangeArrowheads="1"/>
          </p:cNvSpPr>
          <p:nvPr/>
        </p:nvSpPr>
        <p:spPr bwMode="auto">
          <a:xfrm>
            <a:off x="1150938" y="4688623"/>
            <a:ext cx="2971800" cy="404812"/>
          </a:xfrm>
          <a:prstGeom prst="rect">
            <a:avLst/>
          </a:prstGeom>
          <a:solidFill>
            <a:srgbClr val="DDDDDD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Contacts the Web server</a:t>
            </a:r>
          </a:p>
        </p:txBody>
      </p:sp>
      <p:cxnSp>
        <p:nvCxnSpPr>
          <p:cNvPr id="324633" name="AutoShape 25"/>
          <p:cNvCxnSpPr>
            <a:cxnSpLocks noChangeShapeType="1"/>
          </p:cNvCxnSpPr>
          <p:nvPr/>
        </p:nvCxnSpPr>
        <p:spPr bwMode="auto">
          <a:xfrm flipH="1" flipV="1">
            <a:off x="4060826" y="4303309"/>
            <a:ext cx="1050924" cy="520846"/>
          </a:xfrm>
          <a:prstGeom prst="straightConnector1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4634" name="Line 26"/>
          <p:cNvSpPr>
            <a:spLocks noChangeShapeType="1"/>
          </p:cNvSpPr>
          <p:nvPr/>
        </p:nvSpPr>
        <p:spPr bwMode="auto">
          <a:xfrm>
            <a:off x="2592388" y="5228373"/>
            <a:ext cx="2519362" cy="94615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3" name="AutoShape 12"/>
          <p:cNvCxnSpPr>
            <a:cxnSpLocks noChangeShapeType="1"/>
          </p:cNvCxnSpPr>
          <p:nvPr/>
        </p:nvCxnSpPr>
        <p:spPr bwMode="auto">
          <a:xfrm>
            <a:off x="2607925" y="4372710"/>
            <a:ext cx="0" cy="2428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3692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3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3" grpId="0" animBg="1"/>
      <p:bldP spid="324614" grpId="0" animBg="1"/>
      <p:bldP spid="324615" grpId="0" animBg="1"/>
      <p:bldP spid="324617" grpId="0" animBg="1"/>
      <p:bldP spid="324618" grpId="0" animBg="1"/>
      <p:bldP spid="324632" grpId="0" animBg="1"/>
      <p:bldP spid="3246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Name information: Resource Records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742" y="1902618"/>
            <a:ext cx="7772400" cy="4406701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zh-CN" sz="2400" dirty="0"/>
              <a:t>Each domain in the DNS has one or more </a:t>
            </a:r>
            <a:r>
              <a:rPr lang="en-US" altLang="zh-CN" sz="2400" dirty="0">
                <a:solidFill>
                  <a:schemeClr val="hlink"/>
                </a:solidFill>
              </a:rPr>
              <a:t>Resource Records</a:t>
            </a:r>
            <a:r>
              <a:rPr lang="en-US" altLang="zh-CN" sz="2400" b="1" dirty="0"/>
              <a:t> </a:t>
            </a:r>
            <a:r>
              <a:rPr lang="en-US" altLang="zh-CN" sz="2400" dirty="0"/>
              <a:t>(RRs), which are fields that contain information about that domain</a:t>
            </a:r>
          </a:p>
          <a:p>
            <a:pPr eaLnBrk="1" hangingPunct="1">
              <a:lnSpc>
                <a:spcPct val="85000"/>
              </a:lnSpc>
            </a:pPr>
            <a:r>
              <a:rPr lang="en-US" altLang="zh-CN" sz="2400" dirty="0"/>
              <a:t>Each RR has the following information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Owner</a:t>
            </a:r>
            <a:r>
              <a:rPr lang="en-US" altLang="zh-CN" sz="2000" dirty="0"/>
              <a:t>: the domain name where the RR is found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Type</a:t>
            </a:r>
            <a:r>
              <a:rPr lang="en-US" altLang="zh-CN" sz="2000" dirty="0"/>
              <a:t>: specifies the type of the resource in this RR</a:t>
            </a:r>
          </a:p>
          <a:p>
            <a:pPr lvl="2" eaLnBrk="1" hangingPunct="1">
              <a:lnSpc>
                <a:spcPct val="85000"/>
              </a:lnSpc>
            </a:pPr>
            <a:r>
              <a:rPr lang="en-US" altLang="zh-CN" sz="1800" dirty="0"/>
              <a:t>A </a:t>
            </a:r>
            <a:r>
              <a:rPr lang="en-US" altLang="zh-CN" sz="1800" dirty="0">
                <a:latin typeface="Arial" pitchFamily="34" charset="0"/>
              </a:rPr>
              <a:t>–</a:t>
            </a:r>
            <a:r>
              <a:rPr lang="en-US" altLang="zh-CN" sz="1800" dirty="0"/>
              <a:t> Host Address </a:t>
            </a:r>
          </a:p>
          <a:p>
            <a:pPr lvl="2" eaLnBrk="1" hangingPunct="1">
              <a:lnSpc>
                <a:spcPct val="85000"/>
              </a:lnSpc>
            </a:pPr>
            <a:r>
              <a:rPr lang="en-US" altLang="zh-CN" sz="1800" dirty="0"/>
              <a:t>MX </a:t>
            </a:r>
            <a:r>
              <a:rPr lang="en-US" altLang="zh-CN" sz="1800" dirty="0">
                <a:latin typeface="Arial" pitchFamily="34" charset="0"/>
              </a:rPr>
              <a:t>–</a:t>
            </a:r>
            <a:r>
              <a:rPr lang="en-US" altLang="zh-CN" sz="1800" dirty="0"/>
              <a:t> Mail Exchanger</a:t>
            </a:r>
          </a:p>
          <a:p>
            <a:pPr lvl="2" eaLnBrk="1" hangingPunct="1">
              <a:lnSpc>
                <a:spcPct val="85000"/>
              </a:lnSpc>
            </a:pPr>
            <a:r>
              <a:rPr lang="en-US" altLang="zh-CN" sz="1800" b="1" dirty="0">
                <a:latin typeface="Arial" pitchFamily="34" charset="0"/>
              </a:rPr>
              <a:t>…</a:t>
            </a:r>
            <a:endParaRPr lang="en-US" altLang="zh-CN" sz="1800" b="1" dirty="0"/>
          </a:p>
          <a:p>
            <a:pPr lvl="1" eaLnBrk="1" hangingPunct="1">
              <a:lnSpc>
                <a:spcPct val="85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Class</a:t>
            </a:r>
            <a:r>
              <a:rPr lang="en-US" altLang="zh-CN" sz="2000" dirty="0"/>
              <a:t>: specifies the protocol family to use</a:t>
            </a:r>
          </a:p>
          <a:p>
            <a:pPr lvl="2" eaLnBrk="1" hangingPunct="1">
              <a:lnSpc>
                <a:spcPct val="85000"/>
              </a:lnSpc>
            </a:pPr>
            <a:r>
              <a:rPr lang="en-US" altLang="zh-CN" sz="1800" dirty="0"/>
              <a:t>IN </a:t>
            </a:r>
            <a:r>
              <a:rPr lang="en-US" altLang="zh-CN" sz="1800" dirty="0">
                <a:latin typeface="Arial" pitchFamily="34" charset="0"/>
              </a:rPr>
              <a:t>–</a:t>
            </a:r>
            <a:r>
              <a:rPr lang="en-US" altLang="zh-CN" sz="1800" dirty="0"/>
              <a:t> the Internet system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TTL</a:t>
            </a:r>
            <a:r>
              <a:rPr lang="en-US" altLang="zh-CN" sz="2000" dirty="0"/>
              <a:t>: specifies the Time To Live (in unit of second) of the cached RRs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RDATA</a:t>
            </a:r>
            <a:r>
              <a:rPr lang="en-US" altLang="zh-CN" sz="2000" dirty="0"/>
              <a:t>: the resource data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2005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NameResolu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90" y="1853825"/>
            <a:ext cx="7850786" cy="4824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B6D5CF-DFF3-42C3-8D57-57F34F11A5D5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93685"/>
            <a:ext cx="7793037" cy="947700"/>
          </a:xfrm>
        </p:spPr>
        <p:txBody>
          <a:bodyPr/>
          <a:lstStyle/>
          <a:p>
            <a:pPr eaLnBrk="1" hangingPunct="1"/>
            <a:r>
              <a:rPr lang="en-US" altLang="zh-CN" sz="4000" dirty="0"/>
              <a:t>Caching mechanisms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540" y="1979740"/>
            <a:ext cx="6030913" cy="387006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/>
              <a:t>Caching at the name servers</a:t>
            </a:r>
          </a:p>
          <a:p>
            <a:pPr eaLnBrk="1" hangingPunct="1">
              <a:defRPr/>
            </a:pPr>
            <a:r>
              <a:rPr lang="en-US" altLang="zh-CN" sz="2400" dirty="0"/>
              <a:t>Caching at the hosts</a:t>
            </a:r>
          </a:p>
          <a:p>
            <a:pPr eaLnBrk="1" hangingPunct="1">
              <a:defRPr/>
            </a:pPr>
            <a:endParaRPr lang="en-US" altLang="zh-CN" sz="2400" dirty="0"/>
          </a:p>
          <a:p>
            <a:pPr eaLnBrk="1" hangingPunct="1">
              <a:defRPr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8514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Protocol details: Message Format (from RFC 1035)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5" name="页脚占位符 5"/>
          <p:cNvSpPr txBox="1">
            <a:spLocks/>
          </p:cNvSpPr>
          <p:nvPr/>
        </p:nvSpPr>
        <p:spPr bwMode="auto">
          <a:xfrm>
            <a:off x="5861023" y="5973402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 b="1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1pPr>
            <a:lvl2pPr marL="742950" indent="-28575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2pPr>
            <a:lvl3pPr marL="1143000" indent="-2286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3pPr>
            <a:lvl4pPr marL="1600200" indent="-2286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4pPr>
            <a:lvl5pPr marL="2057400" indent="-2286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CCBFEF-DE63-4C68-B1C7-CD615D729696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graphicFrame>
        <p:nvGraphicFramePr>
          <p:cNvPr id="6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200608"/>
              </p:ext>
            </p:extLst>
          </p:nvPr>
        </p:nvGraphicFramePr>
        <p:xfrm>
          <a:off x="1285848" y="2160227"/>
          <a:ext cx="7381875" cy="4329113"/>
        </p:xfrm>
        <a:graphic>
          <a:graphicData uri="http://schemas.openxmlformats.org/drawingml/2006/table">
            <a:tbl>
              <a:tblPr/>
              <a:tblGrid>
                <a:gridCol w="738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3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Header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Question Section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Answer Section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Authority Section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Additional Section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904590"/>
              </p:ext>
            </p:extLst>
          </p:nvPr>
        </p:nvGraphicFramePr>
        <p:xfrm>
          <a:off x="1293785" y="2160227"/>
          <a:ext cx="7373938" cy="1439861"/>
        </p:xfrm>
        <a:graphic>
          <a:graphicData uri="http://schemas.openxmlformats.org/drawingml/2006/table">
            <a:tbl>
              <a:tblPr/>
              <a:tblGrid>
                <a:gridCol w="207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1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OPCODE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Rcode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Question count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Answer count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Authority count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Additional count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Box 46"/>
          <p:cNvSpPr txBox="1">
            <a:spLocks noChangeArrowheads="1"/>
          </p:cNvSpPr>
          <p:nvPr/>
        </p:nvSpPr>
        <p:spPr bwMode="auto">
          <a:xfrm>
            <a:off x="8305773" y="1801452"/>
            <a:ext cx="541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31</a:t>
            </a:r>
          </a:p>
        </p:txBody>
      </p:sp>
      <p:sp>
        <p:nvSpPr>
          <p:cNvPr id="9" name="Text Box 47"/>
          <p:cNvSpPr txBox="1">
            <a:spLocks noChangeArrowheads="1"/>
          </p:cNvSpPr>
          <p:nvPr/>
        </p:nvSpPr>
        <p:spPr bwMode="auto">
          <a:xfrm>
            <a:off x="3446435" y="1809389"/>
            <a:ext cx="541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16</a:t>
            </a:r>
          </a:p>
        </p:txBody>
      </p:sp>
      <p:sp>
        <p:nvSpPr>
          <p:cNvPr id="10" name="Text Box 48"/>
          <p:cNvSpPr txBox="1">
            <a:spLocks noChangeArrowheads="1"/>
          </p:cNvSpPr>
          <p:nvPr/>
        </p:nvSpPr>
        <p:spPr bwMode="auto">
          <a:xfrm>
            <a:off x="3040035" y="1809389"/>
            <a:ext cx="541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15</a:t>
            </a:r>
          </a:p>
        </p:txBody>
      </p:sp>
      <p:sp>
        <p:nvSpPr>
          <p:cNvPr id="11" name="Text Box 49"/>
          <p:cNvSpPr txBox="1">
            <a:spLocks noChangeArrowheads="1"/>
          </p:cNvSpPr>
          <p:nvPr/>
        </p:nvSpPr>
        <p:spPr bwMode="auto">
          <a:xfrm>
            <a:off x="1241398" y="1809389"/>
            <a:ext cx="541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12" name="Text Box 50"/>
          <p:cNvSpPr txBox="1">
            <a:spLocks noChangeArrowheads="1"/>
          </p:cNvSpPr>
          <p:nvPr/>
        </p:nvSpPr>
        <p:spPr bwMode="auto">
          <a:xfrm>
            <a:off x="836585" y="3968389"/>
            <a:ext cx="1935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3" name="Text Box 51"/>
          <p:cNvSpPr txBox="1">
            <a:spLocks noChangeArrowheads="1"/>
          </p:cNvSpPr>
          <p:nvPr/>
        </p:nvSpPr>
        <p:spPr bwMode="auto">
          <a:xfrm>
            <a:off x="3311498" y="3879489"/>
            <a:ext cx="3240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/>
              <a:t>(variable number of questions)</a:t>
            </a:r>
          </a:p>
        </p:txBody>
      </p:sp>
      <p:sp>
        <p:nvSpPr>
          <p:cNvPr id="14" name="Text Box 52"/>
          <p:cNvSpPr txBox="1">
            <a:spLocks noChangeArrowheads="1"/>
          </p:cNvSpPr>
          <p:nvPr/>
        </p:nvSpPr>
        <p:spPr bwMode="auto">
          <a:xfrm>
            <a:off x="2681790" y="4592277"/>
            <a:ext cx="46358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/>
              <a:t>(variable number of Resource </a:t>
            </a:r>
            <a:r>
              <a:rPr lang="en-US" altLang="zh-CN" sz="1800" dirty="0" err="1"/>
              <a:t>Recordss</a:t>
            </a:r>
            <a:r>
              <a:rPr lang="en-US" altLang="zh-CN" sz="1800" dirty="0"/>
              <a:t>)</a:t>
            </a:r>
          </a:p>
        </p:txBody>
      </p:sp>
      <p:sp>
        <p:nvSpPr>
          <p:cNvPr id="17" name="Text Box 60"/>
          <p:cNvSpPr txBox="1">
            <a:spLocks noChangeArrowheads="1"/>
          </p:cNvSpPr>
          <p:nvPr/>
        </p:nvSpPr>
        <p:spPr bwMode="auto">
          <a:xfrm>
            <a:off x="4930905" y="2214202"/>
            <a:ext cx="171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dirty="0"/>
              <a:t>AA  TC   RD  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05" y="2382477"/>
            <a:ext cx="1124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Fixed length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 bwMode="auto">
          <a:xfrm>
            <a:off x="116505" y="2168164"/>
            <a:ext cx="1124893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/>
          <p:cNvCxnSpPr/>
          <p:nvPr/>
        </p:nvCxnSpPr>
        <p:spPr bwMode="auto">
          <a:xfrm>
            <a:off x="116505" y="3609020"/>
            <a:ext cx="1124893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/>
          <p:nvPr/>
        </p:nvCxnSpPr>
        <p:spPr bwMode="auto">
          <a:xfrm flipH="1">
            <a:off x="296525" y="6491562"/>
            <a:ext cx="944873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16505" y="4750372"/>
            <a:ext cx="1124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Variable  length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27" name="Text Box 52"/>
          <p:cNvSpPr txBox="1">
            <a:spLocks noChangeArrowheads="1"/>
          </p:cNvSpPr>
          <p:nvPr/>
        </p:nvSpPr>
        <p:spPr bwMode="auto">
          <a:xfrm>
            <a:off x="2681790" y="5354923"/>
            <a:ext cx="46358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/>
              <a:t>(variable number of Resource </a:t>
            </a:r>
            <a:r>
              <a:rPr lang="en-US" altLang="zh-CN" sz="1800" dirty="0" err="1"/>
              <a:t>Recordss</a:t>
            </a:r>
            <a:r>
              <a:rPr lang="en-US" altLang="zh-CN" sz="1800" dirty="0"/>
              <a:t>)</a:t>
            </a:r>
          </a:p>
        </p:txBody>
      </p: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2681790" y="6039290"/>
            <a:ext cx="46358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/>
              <a:t>(variable number of Resource </a:t>
            </a:r>
            <a:r>
              <a:rPr lang="en-US" altLang="zh-CN" sz="1800" dirty="0" err="1"/>
              <a:t>Recordss</a:t>
            </a:r>
            <a:r>
              <a:rPr lang="en-US" altLang="zh-CN" sz="1800" dirty="0"/>
              <a:t>)</a:t>
            </a:r>
          </a:p>
        </p:txBody>
      </p:sp>
      <p:sp>
        <p:nvSpPr>
          <p:cNvPr id="29" name="右箭头 28">
            <a:hlinkClick r:id="rId2" action="ppaction://hlinksldjump"/>
          </p:cNvPr>
          <p:cNvSpPr/>
          <p:nvPr/>
        </p:nvSpPr>
        <p:spPr bwMode="auto">
          <a:xfrm>
            <a:off x="7317667" y="3879489"/>
            <a:ext cx="404683" cy="27225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0" name="右箭头 29">
            <a:hlinkClick r:id="rId3" action="ppaction://hlinksldjump"/>
          </p:cNvPr>
          <p:cNvSpPr/>
          <p:nvPr/>
        </p:nvSpPr>
        <p:spPr bwMode="auto">
          <a:xfrm>
            <a:off x="7317666" y="4526392"/>
            <a:ext cx="404683" cy="272256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22050" y="1742285"/>
            <a:ext cx="1485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Flags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75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AC4A82-E499-47E9-BAEE-C2D9ED27FEF7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57175"/>
            <a:ext cx="7793037" cy="1462088"/>
          </a:xfrm>
        </p:spPr>
        <p:txBody>
          <a:bodyPr/>
          <a:lstStyle/>
          <a:p>
            <a:pPr eaLnBrk="1" hangingPunct="1"/>
            <a:r>
              <a:rPr lang="en-US" altLang="zh-CN" sz="4000"/>
              <a:t>DNS Message Header Structure(1)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300038" y="2033588"/>
            <a:ext cx="8637587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ID</a:t>
            </a:r>
            <a:r>
              <a:rPr lang="en-US" altLang="zh-CN" sz="1800" dirty="0"/>
              <a:t>: 16-bit field used to correlate queries and responses.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QR</a:t>
            </a:r>
            <a:r>
              <a:rPr lang="en-US" altLang="zh-CN" sz="1800" dirty="0"/>
              <a:t>: 1-bit field that identifies the message as a query (0) or response (1).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OPCODE</a:t>
            </a:r>
            <a:r>
              <a:rPr lang="en-US" altLang="zh-CN" sz="1800" dirty="0"/>
              <a:t>: 4-bit field that describes the type of query:</a:t>
            </a:r>
          </a:p>
          <a:p>
            <a:pPr lvl="1" algn="l" eaLnBrk="1" hangingPunct="1"/>
            <a:r>
              <a:rPr lang="en-US" altLang="zh-CN" sz="1800" dirty="0"/>
              <a:t>0: Standard query (name to address).  1: Inverse query (address to name).   2: Server status request.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AA</a:t>
            </a:r>
            <a:r>
              <a:rPr lang="en-US" altLang="zh-CN" sz="1800" dirty="0"/>
              <a:t>: Authoritative Answer. 1-bit field. When set to 1, identifies this response is made by an authoritative name server.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TC</a:t>
            </a:r>
            <a:r>
              <a:rPr lang="en-US" altLang="zh-CN" sz="1800" dirty="0"/>
              <a:t>: Truncation. 1-bit field. When set to 1, indicates the message has been truncated due to length greater than that permitted.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RD</a:t>
            </a:r>
            <a:r>
              <a:rPr lang="en-US" altLang="zh-CN" sz="1800" dirty="0"/>
              <a:t>: Recursion Desired. 1-bit field. Set to 1 by the resolver to request recursive service by the name server.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RA</a:t>
            </a:r>
            <a:r>
              <a:rPr lang="en-US" altLang="zh-CN" sz="1800" dirty="0"/>
              <a:t>: Recursion Available. 1-bit field. Set to 1 by name server to indicate recursive query support is available.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Z</a:t>
            </a:r>
            <a:r>
              <a:rPr lang="en-US" altLang="zh-CN" sz="1800" dirty="0"/>
              <a:t>: 3-bit field. Reserved for future use. Must be set to 0.</a:t>
            </a:r>
          </a:p>
        </p:txBody>
      </p:sp>
    </p:spTree>
    <p:extLst>
      <p:ext uri="{BB962C8B-B14F-4D97-AF65-F5344CB8AC3E}">
        <p14:creationId xmlns:p14="http://schemas.microsoft.com/office/powerpoint/2010/main" val="2760626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8411938-2A9E-426A-9B20-1DB022974FF0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188913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zh-CN" sz="4000"/>
              <a:t>DNS Message Header Structure(2)</a:t>
            </a:r>
          </a:p>
        </p:txBody>
      </p:sp>
      <p:sp>
        <p:nvSpPr>
          <p:cNvPr id="45060" name="Rectangle 3"/>
          <p:cNvSpPr>
            <a:spLocks noChangeArrowheads="1"/>
          </p:cNvSpPr>
          <p:nvPr/>
        </p:nvSpPr>
        <p:spPr bwMode="auto">
          <a:xfrm>
            <a:off x="300038" y="2063750"/>
            <a:ext cx="8637587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RCODE</a:t>
            </a:r>
            <a:r>
              <a:rPr lang="en-US" altLang="zh-CN" sz="1800" dirty="0"/>
              <a:t>: Response Code. 4-bit field that is set by the name server to identify the status of the query:</a:t>
            </a:r>
          </a:p>
          <a:p>
            <a:pPr lvl="1" algn="l" eaLnBrk="1" hangingPunct="1"/>
            <a:r>
              <a:rPr lang="en-US" altLang="zh-CN" sz="1800" dirty="0"/>
              <a:t>0: No error condition. 1: Unable to interpret query due to format error.      2: Unable to process due to server failure. 3: </a:t>
            </a:r>
            <a:r>
              <a:rPr lang="en-US" altLang="zh-CN" sz="1800" b="1" dirty="0"/>
              <a:t>Name in query does not exist</a:t>
            </a:r>
            <a:r>
              <a:rPr lang="en-US" altLang="zh-CN" sz="1800" dirty="0"/>
              <a:t>. 4: Type of query not supported. 5:Query refused for policy reasons.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QDCOUNT(Question count)</a:t>
            </a:r>
            <a:r>
              <a:rPr lang="en-US" altLang="zh-CN" sz="1800" dirty="0"/>
              <a:t>: 16-bit field that defines the number of entries in the question section.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ANCOUNT(Answer count)</a:t>
            </a:r>
            <a:r>
              <a:rPr lang="en-US" altLang="zh-CN" sz="1800" dirty="0"/>
              <a:t>: 16-bit field that defines the number of resource records in the answer section.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NSCOUNT(Authority count)</a:t>
            </a:r>
            <a:r>
              <a:rPr lang="en-US" altLang="zh-CN" sz="1800" dirty="0"/>
              <a:t>: 16-bit field that defines the number of name server resource records in the authority section.</a:t>
            </a:r>
          </a:p>
          <a:p>
            <a:pPr algn="l" eaLnBrk="1" hangingPunct="1"/>
            <a:r>
              <a:rPr lang="en-US" altLang="zh-CN" sz="1800" dirty="0">
                <a:solidFill>
                  <a:schemeClr val="hlink"/>
                </a:solidFill>
              </a:rPr>
              <a:t>ARCOUNT(Additional count)</a:t>
            </a:r>
            <a:r>
              <a:rPr lang="en-US" altLang="zh-CN" sz="1800" dirty="0"/>
              <a:t>: 16-bit field that defines the number of resource records in the additional records section.</a:t>
            </a:r>
            <a:endParaRPr lang="en-US" altLang="zh-CN" sz="1800" i="1" dirty="0">
              <a:solidFill>
                <a:schemeClr val="hlink"/>
              </a:solidFill>
            </a:endParaRPr>
          </a:p>
          <a:p>
            <a:pPr algn="l" eaLnBrk="1" hangingPunct="1"/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024354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D656D89-1E85-4F26-B478-6BF9E107F789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Question Section Format</a:t>
            </a:r>
          </a:p>
        </p:txBody>
      </p:sp>
      <p:graphicFrame>
        <p:nvGraphicFramePr>
          <p:cNvPr id="340020" name="Group 52"/>
          <p:cNvGraphicFramePr>
            <a:graphicFrameLocks noGrp="1"/>
          </p:cNvGraphicFramePr>
          <p:nvPr>
            <p:ph idx="1"/>
          </p:nvPr>
        </p:nvGraphicFramePr>
        <p:xfrm>
          <a:off x="1062038" y="2241550"/>
          <a:ext cx="7772400" cy="15621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312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QEURY DOMAIN NAME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(variable number of domain names)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QUERY 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QUERY CLASS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094" name="Rectangle 44"/>
          <p:cNvSpPr>
            <a:spLocks noChangeArrowheads="1"/>
          </p:cNvSpPr>
          <p:nvPr/>
        </p:nvSpPr>
        <p:spPr bwMode="auto">
          <a:xfrm>
            <a:off x="1016000" y="4014788"/>
            <a:ext cx="7916863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dirty="0">
                <a:solidFill>
                  <a:schemeClr val="hlink"/>
                </a:solidFill>
              </a:rPr>
              <a:t>QUERY TYPE</a:t>
            </a:r>
            <a:r>
              <a:rPr lang="en-US" altLang="zh-CN" sz="2000" dirty="0"/>
              <a:t>: 16-bit field used to specify the type of the query</a:t>
            </a:r>
          </a:p>
          <a:p>
            <a:pPr lvl="1" algn="l" eaLnBrk="1" hangingPunct="1"/>
            <a:r>
              <a:rPr lang="en-US" altLang="zh-CN" sz="2000" dirty="0"/>
              <a:t>A(1) </a:t>
            </a:r>
            <a:r>
              <a:rPr lang="en-US" altLang="zh-CN" sz="2000" dirty="0">
                <a:latin typeface="Arial" pitchFamily="34" charset="0"/>
              </a:rPr>
              <a:t>–</a:t>
            </a:r>
            <a:r>
              <a:rPr lang="en-US" altLang="zh-CN" sz="2000" dirty="0"/>
              <a:t> Host address</a:t>
            </a:r>
          </a:p>
          <a:p>
            <a:pPr lvl="1" algn="l" eaLnBrk="1" hangingPunct="1"/>
            <a:r>
              <a:rPr lang="en-US" altLang="zh-CN" sz="2000" dirty="0"/>
              <a:t>MX(15) </a:t>
            </a:r>
            <a:r>
              <a:rPr lang="en-US" altLang="zh-CN" sz="2000" dirty="0">
                <a:latin typeface="Arial" pitchFamily="34" charset="0"/>
              </a:rPr>
              <a:t>–</a:t>
            </a:r>
            <a:r>
              <a:rPr lang="en-US" altLang="zh-CN" sz="2000" dirty="0"/>
              <a:t> Mail exchanger for the domain</a:t>
            </a:r>
          </a:p>
          <a:p>
            <a:pPr lvl="1" algn="l" eaLnBrk="1" hangingPunct="1"/>
            <a:r>
              <a:rPr lang="en-US" altLang="zh-CN" sz="2000" b="1" dirty="0">
                <a:latin typeface="Arial" pitchFamily="34" charset="0"/>
              </a:rPr>
              <a:t>…</a:t>
            </a:r>
            <a:endParaRPr lang="en-US" altLang="zh-CN" sz="2000" b="1" dirty="0"/>
          </a:p>
          <a:p>
            <a:pPr algn="l" eaLnBrk="1" hangingPunct="1"/>
            <a:r>
              <a:rPr lang="en-US" altLang="zh-CN" sz="2000" dirty="0">
                <a:solidFill>
                  <a:schemeClr val="hlink"/>
                </a:solidFill>
              </a:rPr>
              <a:t>QUERY CLASS</a:t>
            </a:r>
            <a:r>
              <a:rPr lang="en-US" altLang="zh-CN" sz="2000" dirty="0"/>
              <a:t>: 16-bit field used to specify the class of the query</a:t>
            </a:r>
          </a:p>
          <a:p>
            <a:pPr lvl="1" algn="l" eaLnBrk="1" hangingPunct="1"/>
            <a:r>
              <a:rPr lang="en-US" altLang="zh-CN" sz="2000" dirty="0"/>
              <a:t>IN(1) </a:t>
            </a:r>
            <a:r>
              <a:rPr lang="en-US" altLang="zh-CN" sz="2000" dirty="0">
                <a:latin typeface="Arial" pitchFamily="34" charset="0"/>
              </a:rPr>
              <a:t>–</a:t>
            </a:r>
            <a:r>
              <a:rPr lang="en-US" altLang="zh-CN" sz="2000" dirty="0"/>
              <a:t> Internet system</a:t>
            </a:r>
          </a:p>
          <a:p>
            <a:pPr lvl="1" algn="l" eaLnBrk="1" hangingPunct="1"/>
            <a:r>
              <a:rPr lang="en-US" altLang="zh-CN" sz="2000" b="1" dirty="0">
                <a:latin typeface="Arial" pitchFamily="34" charset="0"/>
              </a:rPr>
              <a:t>…</a:t>
            </a:r>
            <a:endParaRPr lang="en-US" altLang="zh-CN" sz="2000" dirty="0"/>
          </a:p>
        </p:txBody>
      </p:sp>
      <p:sp>
        <p:nvSpPr>
          <p:cNvPr id="46095" name="Text Box 45"/>
          <p:cNvSpPr txBox="1">
            <a:spLocks noChangeArrowheads="1"/>
          </p:cNvSpPr>
          <p:nvPr/>
        </p:nvSpPr>
        <p:spPr bwMode="auto">
          <a:xfrm>
            <a:off x="8440738" y="1854200"/>
            <a:ext cx="541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31</a:t>
            </a:r>
          </a:p>
        </p:txBody>
      </p:sp>
      <p:sp>
        <p:nvSpPr>
          <p:cNvPr id="46096" name="Text Box 46"/>
          <p:cNvSpPr txBox="1">
            <a:spLocks noChangeArrowheads="1"/>
          </p:cNvSpPr>
          <p:nvPr/>
        </p:nvSpPr>
        <p:spPr bwMode="auto">
          <a:xfrm>
            <a:off x="4886325" y="1862138"/>
            <a:ext cx="541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16</a:t>
            </a:r>
          </a:p>
        </p:txBody>
      </p:sp>
      <p:sp>
        <p:nvSpPr>
          <p:cNvPr id="46097" name="Text Box 47"/>
          <p:cNvSpPr txBox="1">
            <a:spLocks noChangeArrowheads="1"/>
          </p:cNvSpPr>
          <p:nvPr/>
        </p:nvSpPr>
        <p:spPr bwMode="auto">
          <a:xfrm>
            <a:off x="4479925" y="1862138"/>
            <a:ext cx="541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15</a:t>
            </a:r>
          </a:p>
        </p:txBody>
      </p:sp>
      <p:sp>
        <p:nvSpPr>
          <p:cNvPr id="46098" name="Text Box 48"/>
          <p:cNvSpPr txBox="1">
            <a:spLocks noChangeArrowheads="1"/>
          </p:cNvSpPr>
          <p:nvPr/>
        </p:nvSpPr>
        <p:spPr bwMode="auto">
          <a:xfrm>
            <a:off x="1062038" y="1862138"/>
            <a:ext cx="541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57231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C3266C-C733-42DE-89FC-1FFBB3110124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Resource Record Format (1)</a:t>
            </a:r>
          </a:p>
        </p:txBody>
      </p:sp>
      <p:graphicFrame>
        <p:nvGraphicFramePr>
          <p:cNvPr id="341036" name="Group 44"/>
          <p:cNvGraphicFramePr>
            <a:graphicFrameLocks noGrp="1"/>
          </p:cNvGraphicFramePr>
          <p:nvPr>
            <p:ph idx="1"/>
          </p:nvPr>
        </p:nvGraphicFramePr>
        <p:xfrm>
          <a:off x="971550" y="2328863"/>
          <a:ext cx="7772400" cy="3894138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07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DOMAIN 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CLASS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3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TTL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702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RESOURCE DATA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122" name="Freeform 25"/>
          <p:cNvSpPr>
            <a:spLocks/>
          </p:cNvSpPr>
          <p:nvPr/>
        </p:nvSpPr>
        <p:spPr bwMode="auto">
          <a:xfrm>
            <a:off x="971550" y="4598988"/>
            <a:ext cx="3914775" cy="719137"/>
          </a:xfrm>
          <a:custGeom>
            <a:avLst/>
            <a:gdLst>
              <a:gd name="T0" fmla="*/ 0 w 2494"/>
              <a:gd name="T1" fmla="*/ 2147483647 h 454"/>
              <a:gd name="T2" fmla="*/ 2147483647 w 2494"/>
              <a:gd name="T3" fmla="*/ 2147483647 h 454"/>
              <a:gd name="T4" fmla="*/ 2147483647 w 2494"/>
              <a:gd name="T5" fmla="*/ 0 h 454"/>
              <a:gd name="T6" fmla="*/ 0 60000 65536"/>
              <a:gd name="T7" fmla="*/ 0 60000 65536"/>
              <a:gd name="T8" fmla="*/ 0 60000 65536"/>
              <a:gd name="T9" fmla="*/ 0 w 2494"/>
              <a:gd name="T10" fmla="*/ 0 h 454"/>
              <a:gd name="T11" fmla="*/ 2494 w 2494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4" h="454">
                <a:moveTo>
                  <a:pt x="0" y="454"/>
                </a:moveTo>
                <a:lnTo>
                  <a:pt x="2494" y="454"/>
                </a:lnTo>
                <a:lnTo>
                  <a:pt x="2494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3" name="Text Box 35"/>
          <p:cNvSpPr txBox="1">
            <a:spLocks noChangeArrowheads="1"/>
          </p:cNvSpPr>
          <p:nvPr/>
        </p:nvSpPr>
        <p:spPr bwMode="auto">
          <a:xfrm>
            <a:off x="881590" y="4832325"/>
            <a:ext cx="4230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</a:rPr>
              <a:t>RESOURCE DATA LENGTH</a:t>
            </a:r>
          </a:p>
        </p:txBody>
      </p:sp>
      <p:sp>
        <p:nvSpPr>
          <p:cNvPr id="47124" name="Text Box 36"/>
          <p:cNvSpPr txBox="1">
            <a:spLocks noChangeArrowheads="1"/>
          </p:cNvSpPr>
          <p:nvPr/>
        </p:nvSpPr>
        <p:spPr bwMode="auto">
          <a:xfrm>
            <a:off x="8351838" y="1928813"/>
            <a:ext cx="541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31</a:t>
            </a:r>
          </a:p>
        </p:txBody>
      </p:sp>
      <p:sp>
        <p:nvSpPr>
          <p:cNvPr id="47125" name="Text Box 37"/>
          <p:cNvSpPr txBox="1">
            <a:spLocks noChangeArrowheads="1"/>
          </p:cNvSpPr>
          <p:nvPr/>
        </p:nvSpPr>
        <p:spPr bwMode="auto">
          <a:xfrm>
            <a:off x="4797425" y="1936750"/>
            <a:ext cx="541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16</a:t>
            </a:r>
          </a:p>
        </p:txBody>
      </p:sp>
      <p:sp>
        <p:nvSpPr>
          <p:cNvPr id="47126" name="Text Box 38"/>
          <p:cNvSpPr txBox="1">
            <a:spLocks noChangeArrowheads="1"/>
          </p:cNvSpPr>
          <p:nvPr/>
        </p:nvSpPr>
        <p:spPr bwMode="auto">
          <a:xfrm>
            <a:off x="4391025" y="1936750"/>
            <a:ext cx="541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15</a:t>
            </a:r>
          </a:p>
        </p:txBody>
      </p:sp>
      <p:sp>
        <p:nvSpPr>
          <p:cNvPr id="47127" name="Text Box 39"/>
          <p:cNvSpPr txBox="1">
            <a:spLocks noChangeArrowheads="1"/>
          </p:cNvSpPr>
          <p:nvPr/>
        </p:nvSpPr>
        <p:spPr bwMode="auto">
          <a:xfrm>
            <a:off x="973138" y="1936750"/>
            <a:ext cx="541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76565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32658F-24ED-44C2-AE64-83AD0A427F4A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Resource Record Format (2)</a:t>
            </a:r>
            <a:br>
              <a:rPr lang="en-US" altLang="zh-CN" sz="3600"/>
            </a:br>
            <a:r>
              <a:rPr lang="en-US" altLang="zh-CN" sz="2400">
                <a:latin typeface="Arial" pitchFamily="34" charset="0"/>
              </a:rPr>
              <a:t>–</a:t>
            </a:r>
            <a:r>
              <a:rPr lang="en-US" altLang="zh-CN" sz="3600"/>
              <a:t> </a:t>
            </a:r>
            <a:r>
              <a:rPr lang="en-US" altLang="zh-CN" sz="3200"/>
              <a:t>type field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525" y="1853825"/>
            <a:ext cx="8685212" cy="49505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000" dirty="0"/>
              <a:t>SOA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Start Of Authority--identifies the domain or zone and sets a number of parameters 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NS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Maps a domain name to the name of a computer that is authoritative for the domain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A</a:t>
            </a:r>
          </a:p>
          <a:p>
            <a:pPr lvl="1">
              <a:lnSpc>
                <a:spcPct val="80000"/>
              </a:lnSpc>
            </a:pPr>
            <a:r>
              <a:rPr lang="en-US" altLang="zh-CN" sz="1800" b="1" dirty="0"/>
              <a:t>Maps the name of a system to its address. If a system (e.g., a router) has several addresses, then there will be a separate record for each.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AAAA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b="1" dirty="0"/>
              <a:t>Maps the name of a system to its IPv6 address. If a system (e.g., a router) has several addresses, then there will be a separate record for each.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CNAME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Maps an alias name to the true, canonical name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MX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Mail Exchanger. Identifies the systems that relay mail into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4207510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A000313-8965-4DDA-9CC2-B1C54A8BF811}" type="slidenum">
              <a:rPr lang="en-US" altLang="zh-CN" sz="1800" smtClean="0">
                <a:solidFill>
                  <a:schemeClr val="fol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Resource Record Format (3)</a:t>
            </a:r>
            <a:br>
              <a:rPr lang="en-US" altLang="zh-CN" sz="3600"/>
            </a:br>
            <a:r>
              <a:rPr lang="en-US" altLang="zh-CN" sz="2400">
                <a:latin typeface="Arial" pitchFamily="34" charset="0"/>
              </a:rPr>
              <a:t>–</a:t>
            </a:r>
            <a:r>
              <a:rPr lang="en-US" altLang="zh-CN" sz="3600"/>
              <a:t> </a:t>
            </a:r>
            <a:r>
              <a:rPr lang="en-US" altLang="zh-CN" sz="3200"/>
              <a:t>type field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000" dirty="0"/>
              <a:t>TXT 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Provides a way to add text comments to the database. For example, a txt record could map abc.com to the company's name, address, and telephone number</a:t>
            </a:r>
          </a:p>
          <a:p>
            <a:pPr lvl="1">
              <a:lnSpc>
                <a:spcPct val="80000"/>
              </a:lnSpc>
            </a:pPr>
            <a:endParaRPr lang="en-US" altLang="zh-CN" sz="18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WKS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Well Known Services. Can list the application services available at the host. Used sparingly, if at all</a:t>
            </a:r>
          </a:p>
          <a:p>
            <a:pPr lvl="1">
              <a:lnSpc>
                <a:spcPct val="80000"/>
              </a:lnSpc>
            </a:pPr>
            <a:endParaRPr lang="en-US" altLang="zh-CN" sz="18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HINFO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Host Information, such as computer type and model. Rarely used</a:t>
            </a:r>
          </a:p>
          <a:p>
            <a:pPr lvl="1">
              <a:lnSpc>
                <a:spcPct val="80000"/>
              </a:lnSpc>
            </a:pPr>
            <a:endParaRPr lang="en-US" altLang="zh-CN" sz="1800" dirty="0"/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bg2"/>
                </a:solidFill>
              </a:rPr>
              <a:t>PTR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Maps an IP address to a system name. Used in address-to-name files.</a:t>
            </a:r>
          </a:p>
          <a:p>
            <a:pPr>
              <a:lnSpc>
                <a:spcPct val="80000"/>
              </a:lnSpc>
            </a:pPr>
            <a:endParaRPr lang="en-US" altLang="zh-CN" sz="2000" dirty="0"/>
          </a:p>
          <a:p>
            <a:pPr>
              <a:lnSpc>
                <a:spcPct val="80000"/>
              </a:lnSpc>
            </a:pPr>
            <a:endParaRPr lang="en-US" altLang="zh-CN" sz="2000" dirty="0"/>
          </a:p>
          <a:p>
            <a:pPr>
              <a:lnSpc>
                <a:spcPct val="80000"/>
              </a:lnSpc>
            </a:pPr>
            <a:endParaRPr lang="en-US" altLang="zh-CN" sz="2000" dirty="0"/>
          </a:p>
          <a:p>
            <a:pPr>
              <a:lnSpc>
                <a:spcPct val="80000"/>
              </a:lnSpc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098364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05800" y="64008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16523D0-A7DB-47AE-9A94-2A17E6DAB239}" type="slidenum">
              <a:rPr lang="en-US" altLang="zh-CN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8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2038" y="6381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sz="3600"/>
              <a:t>Example of Resource Records(1)</a:t>
            </a: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57225" y="4194175"/>
            <a:ext cx="8010525" cy="1866900"/>
          </a:xfrm>
        </p:spPr>
        <p:txBody>
          <a:bodyPr/>
          <a:lstStyle/>
          <a:p>
            <a:r>
              <a:rPr lang="en-US" altLang="zh-CN" sz="2400" dirty="0"/>
              <a:t>Type=NS</a:t>
            </a:r>
          </a:p>
          <a:p>
            <a:pPr lvl="1"/>
            <a:r>
              <a:rPr lang="en-US" altLang="zh-CN" dirty="0"/>
              <a:t>Name= Domain, </a:t>
            </a:r>
            <a:r>
              <a:rPr lang="en-US" altLang="zh-CN" dirty="0" err="1"/>
              <a:t>eg.</a:t>
            </a:r>
            <a:r>
              <a:rPr lang="en-US" altLang="zh-CN" dirty="0"/>
              <a:t> bupt.edu.cn</a:t>
            </a:r>
          </a:p>
          <a:p>
            <a:pPr lvl="1"/>
            <a:r>
              <a:rPr lang="en-US" altLang="zh-CN" dirty="0"/>
              <a:t>value= Domain name of Authoritative Name Server</a:t>
            </a:r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566738" y="2124075"/>
            <a:ext cx="7662862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+mn-lt"/>
                <a:ea typeface="宋体" charset="-122"/>
              </a:rPr>
              <a:t>Type=A</a:t>
            </a:r>
          </a:p>
          <a:p>
            <a:pPr marL="742950" lvl="1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+mn-lt"/>
                <a:ea typeface="宋体" charset="-122"/>
              </a:rPr>
              <a:t>Name= Domain name , Value=</a:t>
            </a:r>
            <a:r>
              <a:rPr lang="zh-CN" altLang="en-US" sz="2400" dirty="0">
                <a:latin typeface="+mn-lt"/>
                <a:ea typeface="宋体" charset="-122"/>
              </a:rPr>
              <a:t> </a:t>
            </a:r>
            <a:r>
              <a:rPr lang="en-US" altLang="zh-CN" sz="2400" dirty="0">
                <a:latin typeface="+mn-lt"/>
                <a:ea typeface="宋体" charset="-122"/>
              </a:rPr>
              <a:t>IP Address</a:t>
            </a:r>
          </a:p>
          <a:p>
            <a:pPr marL="742950" lvl="1" indent="-285750" algn="l">
              <a:buSzPct val="75000"/>
              <a:defRPr/>
            </a:pPr>
            <a:endParaRPr lang="en-US" altLang="zh-CN" sz="2000" dirty="0">
              <a:ea typeface="宋体" charset="-122"/>
            </a:endParaRPr>
          </a:p>
          <a:p>
            <a:pPr marL="342900" indent="-342900" algn="l">
              <a:buFont typeface="ZapfDingbats" pitchFamily="82" charset="2"/>
              <a:buChar char="r"/>
              <a:defRPr/>
            </a:pPr>
            <a:endParaRPr lang="en-US" altLang="zh-CN" dirty="0">
              <a:ea typeface="宋体" charset="-122"/>
            </a:endParaRPr>
          </a:p>
        </p:txBody>
      </p:sp>
      <p:sp>
        <p:nvSpPr>
          <p:cNvPr id="50182" name="矩形 19"/>
          <p:cNvSpPr>
            <a:spLocks noChangeArrowheads="1"/>
          </p:cNvSpPr>
          <p:nvPr/>
        </p:nvSpPr>
        <p:spPr bwMode="auto">
          <a:xfrm>
            <a:off x="1285875" y="3249613"/>
            <a:ext cx="6165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  <a:latin typeface="Arial" pitchFamily="34" charset="0"/>
                <a:ea typeface="DFKai-SB" pitchFamily="65" charset="-120"/>
              </a:rPr>
              <a:t>ns.bupt.edu.cn  86400  IN  </a:t>
            </a:r>
            <a:r>
              <a:rPr lang="en-US" altLang="zh-TW" sz="2400" i="1">
                <a:solidFill>
                  <a:srgbClr val="FF0000"/>
                </a:solidFill>
                <a:latin typeface="Arial" pitchFamily="34" charset="0"/>
                <a:ea typeface="DFKai-SB" pitchFamily="65" charset="-120"/>
              </a:rPr>
              <a:t>A</a:t>
            </a:r>
            <a:r>
              <a:rPr lang="en-US" altLang="zh-TW" sz="2400" i="1">
                <a:solidFill>
                  <a:schemeClr val="tx2"/>
                </a:solidFill>
                <a:latin typeface="Arial" pitchFamily="34" charset="0"/>
                <a:ea typeface="DFKai-SB" pitchFamily="65" charset="-120"/>
              </a:rPr>
              <a:t>  202.112.10.37</a:t>
            </a:r>
            <a:endParaRPr lang="zh-CN" altLang="en-US" sz="2400" i="1">
              <a:solidFill>
                <a:schemeClr val="tx2"/>
              </a:solidFill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016000" y="5724525"/>
            <a:ext cx="7567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  <a:latin typeface="Arial" pitchFamily="34" charset="0"/>
                <a:ea typeface="DFKai-SB" pitchFamily="65" charset="-120"/>
              </a:rPr>
              <a:t>bupt.edu.cn         86400    IN    </a:t>
            </a:r>
            <a:r>
              <a:rPr lang="en-US" altLang="zh-TW" sz="2400" i="1">
                <a:solidFill>
                  <a:srgbClr val="FF0000"/>
                </a:solidFill>
                <a:latin typeface="Arial" pitchFamily="34" charset="0"/>
                <a:ea typeface="DFKai-SB" pitchFamily="65" charset="-120"/>
              </a:rPr>
              <a:t>NS</a:t>
            </a:r>
            <a:r>
              <a:rPr lang="en-US" altLang="zh-TW" sz="2400" i="1">
                <a:solidFill>
                  <a:schemeClr val="tx2"/>
                </a:solidFill>
                <a:latin typeface="Arial" pitchFamily="34" charset="0"/>
                <a:ea typeface="DFKai-SB" pitchFamily="65" charset="-120"/>
              </a:rPr>
              <a:t>    ns.bupt.edu.cn</a:t>
            </a:r>
            <a:endParaRPr lang="zh-CN" altLang="en-US" sz="2400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29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6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305800" y="64008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B6B4BC-162A-4EDB-9ADB-D7C6562533D1}" type="slidenum">
              <a:rPr lang="en-US" altLang="zh-CN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8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Example of Resource Records (2)</a:t>
            </a:r>
            <a:endParaRPr lang="en-US" altLang="zh-CN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657225" y="1898650"/>
            <a:ext cx="814705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+mn-lt"/>
                <a:ea typeface="宋体" charset="-122"/>
              </a:rPr>
              <a:t>Type=CNAME</a:t>
            </a:r>
          </a:p>
          <a:p>
            <a:pPr marL="742950" lvl="1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+mn-lt"/>
                <a:ea typeface="宋体" charset="-122"/>
              </a:rPr>
              <a:t>Name= canonical name</a:t>
            </a:r>
          </a:p>
          <a:p>
            <a:pPr marL="742950" lvl="1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+mn-lt"/>
                <a:ea typeface="宋体" charset="-122"/>
              </a:rPr>
              <a:t>Value= the name</a:t>
            </a:r>
          </a:p>
          <a:p>
            <a:pPr marL="342900" indent="-342900" algn="l">
              <a:defRPr/>
            </a:pPr>
            <a:r>
              <a:rPr lang="en-US" altLang="zh-CN" sz="2400" dirty="0">
                <a:latin typeface="Courier New" pitchFamily="49" charset="0"/>
                <a:ea typeface="宋体" charset="-122"/>
              </a:rPr>
              <a:t>    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406400" y="3821113"/>
            <a:ext cx="7540625" cy="1309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lvl="1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+mn-lt"/>
                <a:ea typeface="宋体" charset="-122"/>
              </a:rPr>
              <a:t>Type=MX</a:t>
            </a:r>
          </a:p>
          <a:p>
            <a:pPr marL="800100" lvl="2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+mn-lt"/>
                <a:ea typeface="宋体" charset="-122"/>
              </a:rPr>
              <a:t>Name= Domain name</a:t>
            </a:r>
          </a:p>
          <a:p>
            <a:pPr marL="800100" lvl="2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altLang="zh-CN" sz="2400" dirty="0">
                <a:latin typeface="+mn-lt"/>
                <a:ea typeface="宋体" charset="-122"/>
              </a:rPr>
              <a:t>Value= canonical name of mail server</a:t>
            </a:r>
          </a:p>
          <a:p>
            <a:pPr marL="342900" indent="-342900" algn="l">
              <a:buFont typeface="ZapfDingbats" pitchFamily="82" charset="2"/>
              <a:buChar char="r"/>
              <a:defRPr/>
            </a:pPr>
            <a:endParaRPr lang="en-US" altLang="zh-CN" dirty="0">
              <a:ea typeface="宋体" charset="-122"/>
            </a:endParaRPr>
          </a:p>
        </p:txBody>
      </p:sp>
      <p:sp>
        <p:nvSpPr>
          <p:cNvPr id="51206" name="矩形 19"/>
          <p:cNvSpPr>
            <a:spLocks noChangeArrowheads="1"/>
          </p:cNvSpPr>
          <p:nvPr/>
        </p:nvSpPr>
        <p:spPr bwMode="auto">
          <a:xfrm>
            <a:off x="1063625" y="3281363"/>
            <a:ext cx="787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  <a:latin typeface="Arial" pitchFamily="34" charset="0"/>
                <a:ea typeface="DFKai-SB" pitchFamily="65" charset="-120"/>
              </a:rPr>
              <a:t>dns.bupt.edu.cn  86400  IN  </a:t>
            </a:r>
            <a:r>
              <a:rPr lang="en-US" altLang="zh-TW" sz="2400" i="1">
                <a:solidFill>
                  <a:srgbClr val="FF0000"/>
                </a:solidFill>
                <a:latin typeface="Arial" pitchFamily="34" charset="0"/>
                <a:ea typeface="DFKai-SB" pitchFamily="65" charset="-120"/>
              </a:rPr>
              <a:t>CNAME</a:t>
            </a:r>
            <a:r>
              <a:rPr lang="en-US" altLang="zh-CN" sz="2400" i="1">
                <a:solidFill>
                  <a:schemeClr val="tx2"/>
                </a:solidFill>
                <a:latin typeface="Arial" pitchFamily="34" charset="0"/>
                <a:ea typeface="DFKai-SB" pitchFamily="65" charset="-120"/>
              </a:rPr>
              <a:t> ns.bupt.edu.cn</a:t>
            </a:r>
            <a:endParaRPr lang="zh-CN" altLang="en-US" sz="2400" i="1">
              <a:solidFill>
                <a:schemeClr val="tx2"/>
              </a:solidFill>
            </a:endParaRPr>
          </a:p>
        </p:txBody>
      </p:sp>
      <p:sp>
        <p:nvSpPr>
          <p:cNvPr id="51207" name="矩形 20"/>
          <p:cNvSpPr>
            <a:spLocks noChangeArrowheads="1"/>
          </p:cNvSpPr>
          <p:nvPr/>
        </p:nvSpPr>
        <p:spPr bwMode="auto">
          <a:xfrm>
            <a:off x="971550" y="5364163"/>
            <a:ext cx="6973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  <a:latin typeface="Arial" pitchFamily="34" charset="0"/>
                <a:ea typeface="DFKai-SB" pitchFamily="65" charset="-120"/>
              </a:rPr>
              <a:t>bupt.edu.cn  86400  IN  </a:t>
            </a:r>
            <a:r>
              <a:rPr lang="en-US" altLang="zh-TW" sz="2400" i="1">
                <a:solidFill>
                  <a:srgbClr val="FF0000"/>
                </a:solidFill>
                <a:latin typeface="Arial" pitchFamily="34" charset="0"/>
                <a:ea typeface="DFKai-SB" pitchFamily="65" charset="-120"/>
              </a:rPr>
              <a:t>MX</a:t>
            </a:r>
            <a:r>
              <a:rPr lang="en-US" altLang="zh-CN" sz="2400" i="1">
                <a:solidFill>
                  <a:schemeClr val="tx2"/>
                </a:solidFill>
                <a:latin typeface="Arial" pitchFamily="34" charset="0"/>
                <a:ea typeface="DFKai-SB" pitchFamily="65" charset="-120"/>
              </a:rPr>
              <a:t> mail.bupt.edu.cn</a:t>
            </a:r>
            <a:endParaRPr lang="zh-CN" altLang="en-US" sz="2400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185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 tools: </a:t>
            </a:r>
            <a:r>
              <a:rPr lang="en-US" altLang="zh-CN" dirty="0" err="1"/>
              <a:t>nslookup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9445" y="1769848"/>
            <a:ext cx="7772400" cy="601197"/>
          </a:xfrm>
        </p:spPr>
        <p:txBody>
          <a:bodyPr/>
          <a:lstStyle/>
          <a:p>
            <a:r>
              <a:rPr lang="en-US" altLang="zh-CN" sz="2400" dirty="0"/>
              <a:t>Query type=A</a:t>
            </a:r>
            <a:endParaRPr lang="zh-CN" altLang="en-US" sz="24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1176473" y="4018619"/>
            <a:ext cx="7772400" cy="601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/>
              <a:t>Query type=MX</a:t>
            </a:r>
            <a:endParaRPr lang="zh-CN" altLang="en-US" sz="2400" kern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9E53C2-0880-4DAE-8348-8265FDF5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212700"/>
            <a:ext cx="6120680" cy="1891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3B2B5B-5B94-4FB8-9171-DE990599D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372" y="4415056"/>
            <a:ext cx="6214957" cy="203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47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6614" y="214313"/>
            <a:ext cx="7837361" cy="1462087"/>
          </a:xfrm>
        </p:spPr>
        <p:txBody>
          <a:bodyPr/>
          <a:lstStyle/>
          <a:p>
            <a:r>
              <a:rPr lang="en-US" altLang="zh-CN" sz="3600" dirty="0"/>
              <a:t>Using </a:t>
            </a:r>
            <a:r>
              <a:rPr lang="en-US" altLang="zh-CN" sz="3600" dirty="0" err="1"/>
              <a:t>wireshark</a:t>
            </a:r>
            <a:r>
              <a:rPr lang="en-US" altLang="zh-CN" sz="3600" dirty="0"/>
              <a:t> to understand the communications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 err="1">
                <a:solidFill>
                  <a:srgbClr val="002060"/>
                </a:solidFill>
              </a:rPr>
              <a:t>Wireshark</a:t>
            </a:r>
            <a:r>
              <a:rPr lang="en-US" altLang="zh-CN" sz="2800" dirty="0">
                <a:solidFill>
                  <a:srgbClr val="002060"/>
                </a:solidFill>
              </a:rPr>
              <a:t>:</a:t>
            </a:r>
            <a:r>
              <a:rPr lang="en-US" altLang="zh-CN" sz="2800" dirty="0"/>
              <a:t> A network protocol analyzer (packet sniffer)  </a:t>
            </a:r>
          </a:p>
          <a:p>
            <a:pPr eaLnBrk="1" hangingPunct="1"/>
            <a:r>
              <a:rPr lang="en-US" altLang="zh-CN" sz="2800" dirty="0"/>
              <a:t>Able to capture packets transferred on the network and display packet fields and their meanings</a:t>
            </a:r>
          </a:p>
          <a:p>
            <a:pPr eaLnBrk="1" hangingPunct="1"/>
            <a:r>
              <a:rPr lang="en-US" altLang="zh-CN" sz="2800" dirty="0"/>
              <a:t>Used for network troubleshooting, analysis, software and communications protocol development, and education. </a:t>
            </a:r>
          </a:p>
          <a:p>
            <a:endParaRPr lang="zh-CN" alt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7269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84BBCC-1E22-4501-BA54-C3E14F1E98FD}" type="slidenum">
              <a:rPr lang="en-US" altLang="zh-CN" sz="18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Download Wireshark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Official website</a:t>
            </a:r>
          </a:p>
          <a:p>
            <a:pPr lvl="1" eaLnBrk="1" hangingPunct="1"/>
            <a:r>
              <a:rPr lang="en-US" altLang="zh-CN" dirty="0">
                <a:hlinkClick r:id="rId2"/>
              </a:rPr>
              <a:t>http://www.wireshark.org/</a:t>
            </a:r>
            <a:endParaRPr lang="en-US" altLang="zh-CN" dirty="0"/>
          </a:p>
          <a:p>
            <a:pPr eaLnBrk="1" hangingPunct="1"/>
            <a:r>
              <a:rPr lang="en-US" altLang="zh-CN" dirty="0"/>
              <a:t>Download page </a:t>
            </a:r>
          </a:p>
          <a:p>
            <a:pPr lvl="1" eaLnBrk="1" hangingPunct="1"/>
            <a:r>
              <a:rPr lang="en-US" altLang="zh-CN" dirty="0">
                <a:hlinkClick r:id="rId3"/>
              </a:rPr>
              <a:t>http://www.wireshark.org/download.html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5681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10" y="1473825"/>
            <a:ext cx="9144000" cy="5411480"/>
          </a:xfrm>
          <a:prstGeom prst="rect">
            <a:avLst/>
          </a:prstGeom>
        </p:spPr>
      </p:pic>
      <p:sp>
        <p:nvSpPr>
          <p:cNvPr id="9218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6F0652-2E36-41EF-8B4A-C0347ED6555E}" type="slidenum">
              <a:rPr lang="en-US" altLang="zh-CN" sz="18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15888" y="44450"/>
            <a:ext cx="7793037" cy="639763"/>
          </a:xfrm>
        </p:spPr>
        <p:txBody>
          <a:bodyPr/>
          <a:lstStyle/>
          <a:p>
            <a:pPr eaLnBrk="1" hangingPunct="1"/>
            <a:r>
              <a:rPr lang="en-US" altLang="zh-CN" sz="3200"/>
              <a:t>Starting wireshark in windows</a:t>
            </a:r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1421650" y="808038"/>
            <a:ext cx="7425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/>
              <a:t>Select </a:t>
            </a:r>
            <a:r>
              <a:rPr lang="en-US" altLang="zh-CN" sz="2400" i="1" dirty="0">
                <a:solidFill>
                  <a:srgbClr val="FF0000"/>
                </a:solidFill>
              </a:rPr>
              <a:t>Interface</a:t>
            </a:r>
            <a:r>
              <a:rPr lang="en-US" altLang="zh-CN" sz="2400" i="1" dirty="0">
                <a:sym typeface="Wingdings" pitchFamily="2" charset="2"/>
              </a:rPr>
              <a:t>, set Capture  Filter, then press </a:t>
            </a:r>
            <a:r>
              <a:rPr lang="en-US" altLang="zh-CN" sz="2400" i="1" dirty="0">
                <a:solidFill>
                  <a:srgbClr val="FF0000"/>
                </a:solidFill>
                <a:sym typeface="Wingdings" pitchFamily="2" charset="2"/>
              </a:rPr>
              <a:t>Start</a:t>
            </a:r>
            <a:endParaRPr lang="en-US" altLang="zh-CN" sz="2400" i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67413" y="233363"/>
            <a:ext cx="223678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以管理员身份运行</a:t>
            </a:r>
            <a:endParaRPr lang="en-US" altLang="zh-CN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2411760" y="4664812"/>
            <a:ext cx="2025225" cy="315035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546775" y="3293984"/>
            <a:ext cx="2160240" cy="581215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6495" y="4329100"/>
            <a:ext cx="1305145" cy="38071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51807" y="5207090"/>
            <a:ext cx="1305145" cy="29233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7100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页脚占位符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6DDE23-02AB-4223-B02F-699DC00FFCC3}" type="slidenum">
              <a:rPr lang="en-US" altLang="zh-CN" sz="18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800">
              <a:solidFill>
                <a:schemeClr val="folHlink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How to initiate the communications?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DNS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Start </a:t>
            </a:r>
            <a:r>
              <a:rPr lang="en-US" altLang="zh-CN" sz="2400" dirty="0" err="1"/>
              <a:t>Wireshark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you can use </a:t>
            </a:r>
            <a:r>
              <a:rPr lang="en-US" altLang="zh-CN" sz="2400" i="1" dirty="0" err="1">
                <a:solidFill>
                  <a:srgbClr val="C00000"/>
                </a:solidFill>
              </a:rPr>
              <a:t>nslookup</a:t>
            </a:r>
            <a:r>
              <a:rPr lang="en-US" altLang="zh-CN" sz="2400" i="1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in command line</a:t>
            </a:r>
          </a:p>
        </p:txBody>
      </p:sp>
    </p:spTree>
    <p:extLst>
      <p:ext uri="{BB962C8B-B14F-4D97-AF65-F5344CB8AC3E}">
        <p14:creationId xmlns:p14="http://schemas.microsoft.com/office/powerpoint/2010/main" val="1840993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ChangeArrowheads="1"/>
          </p:cNvSpPr>
          <p:nvPr/>
        </p:nvSpPr>
        <p:spPr bwMode="auto">
          <a:xfrm>
            <a:off x="0" y="1176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Font typeface="Wingdings" pitchFamily="2" charset="2"/>
              <a:buChar char="n"/>
              <a:defRPr kumimoji="1" sz="2400" b="1">
                <a:solidFill>
                  <a:srgbClr val="000099"/>
                </a:solidFill>
                <a:latin typeface="Verdana" pitchFamily="34" charset="0"/>
                <a:ea typeface="黑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08000"/>
              </a:buClr>
              <a:buFont typeface="Wingdings" pitchFamily="2" charset="2"/>
              <a:defRPr kumimoji="1" sz="2200">
                <a:solidFill>
                  <a:schemeClr val="tx1"/>
                </a:solidFill>
                <a:latin typeface="Verdana" pitchFamily="34" charset="0"/>
                <a:ea typeface="黑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 kumimoji="1" sz="2000">
                <a:solidFill>
                  <a:schemeClr val="tx1"/>
                </a:solidFill>
                <a:latin typeface="Verdana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6600CC"/>
              </a:buClr>
              <a:buFont typeface="Wingdings" pitchFamily="2" charset="2"/>
              <a:buChar char="l"/>
              <a:defRPr kumimoji="1">
                <a:solidFill>
                  <a:schemeClr val="tx1"/>
                </a:solidFill>
                <a:latin typeface="Verdana" pitchFamily="34" charset="0"/>
                <a:ea typeface="仿宋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6600CC"/>
              </a:buClr>
              <a:buFont typeface="Wingdings" pitchFamily="2" charset="2"/>
              <a:buChar char="l"/>
              <a:defRPr kumimoji="1">
                <a:solidFill>
                  <a:schemeClr val="tx1"/>
                </a:solidFill>
                <a:latin typeface="Verdana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CC"/>
              </a:buClr>
              <a:buFont typeface="Wingdings" pitchFamily="2" charset="2"/>
              <a:buChar char="l"/>
              <a:defRPr kumimoji="1">
                <a:solidFill>
                  <a:schemeClr val="tx1"/>
                </a:solidFill>
                <a:latin typeface="Verdana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CC"/>
              </a:buClr>
              <a:buFont typeface="Wingdings" pitchFamily="2" charset="2"/>
              <a:buChar char="l"/>
              <a:defRPr kumimoji="1">
                <a:solidFill>
                  <a:schemeClr val="tx1"/>
                </a:solidFill>
                <a:latin typeface="Verdana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CC"/>
              </a:buClr>
              <a:buFont typeface="Wingdings" pitchFamily="2" charset="2"/>
              <a:buChar char="l"/>
              <a:defRPr kumimoji="1">
                <a:solidFill>
                  <a:schemeClr val="tx1"/>
                </a:solidFill>
                <a:latin typeface="Verdana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CC"/>
              </a:buClr>
              <a:buFont typeface="Wingdings" pitchFamily="2" charset="2"/>
              <a:buChar char="l"/>
              <a:defRPr kumimoji="1">
                <a:solidFill>
                  <a:schemeClr val="tx1"/>
                </a:solidFill>
                <a:latin typeface="Verdana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500" b="0">
              <a:solidFill>
                <a:schemeClr val="tx1"/>
              </a:solidFill>
              <a:latin typeface="Lucida Console" pitchFamily="49" charset="0"/>
              <a:ea typeface="楷体_GB2312" pitchFamily="49" charset="-122"/>
            </a:endParaRP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0"/>
            <a:ext cx="9901238" cy="645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6"/>
          <p:cNvSpPr>
            <a:spLocks noGrp="1" noChangeArrowheads="1"/>
          </p:cNvSpPr>
          <p:nvPr>
            <p:ph type="title"/>
          </p:nvPr>
        </p:nvSpPr>
        <p:spPr>
          <a:xfrm>
            <a:off x="684213" y="-100013"/>
            <a:ext cx="7772400" cy="587376"/>
          </a:xfrm>
        </p:spPr>
        <p:txBody>
          <a:bodyPr/>
          <a:lstStyle/>
          <a:p>
            <a:pPr eaLnBrk="1" hangingPunct="1"/>
            <a:r>
              <a:rPr lang="en-US" altLang="zh-CN" sz="3600"/>
              <a:t>DNS Request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9109075" cy="635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>
          <a:xfrm>
            <a:off x="684213" y="-26988"/>
            <a:ext cx="7772400" cy="587376"/>
          </a:xfrm>
        </p:spPr>
        <p:txBody>
          <a:bodyPr/>
          <a:lstStyle/>
          <a:p>
            <a:pPr eaLnBrk="1" hangingPunct="1"/>
            <a:r>
              <a:rPr lang="en-US" altLang="zh-CN" sz="3200"/>
              <a:t>DNS Response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6625" y="683695"/>
            <a:ext cx="7793037" cy="874427"/>
          </a:xfrm>
        </p:spPr>
        <p:txBody>
          <a:bodyPr/>
          <a:lstStyle/>
          <a:p>
            <a:r>
              <a:rPr lang="en-US" altLang="zh-CN" i="1" dirty="0"/>
              <a:t>Using Socket programming</a:t>
            </a:r>
            <a:endParaRPr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Socket: an extension </a:t>
            </a:r>
            <a:r>
              <a:rPr lang="en-US" altLang="zh-CN" dirty="0">
                <a:solidFill>
                  <a:schemeClr val="bg2"/>
                </a:solidFill>
              </a:rPr>
              <a:t>to OS</a:t>
            </a:r>
            <a:r>
              <a:rPr lang="en-US" altLang="zh-CN" dirty="0">
                <a:solidFill>
                  <a:schemeClr val="bg2"/>
                </a:solidFill>
                <a:latin typeface="Arial" pitchFamily="34" charset="0"/>
              </a:rPr>
              <a:t>’</a:t>
            </a:r>
            <a:r>
              <a:rPr lang="en-US" altLang="zh-CN" dirty="0">
                <a:solidFill>
                  <a:schemeClr val="bg2"/>
                </a:solidFill>
              </a:rPr>
              <a:t>s I/O system, enabling communication between processes and machines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A interface (a “door”) into which application process can </a:t>
            </a:r>
            <a:r>
              <a:rPr lang="en-US" altLang="zh-CN" dirty="0">
                <a:solidFill>
                  <a:srgbClr val="FF0000"/>
                </a:solidFill>
              </a:rPr>
              <a:t>both send and receive</a:t>
            </a:r>
            <a:r>
              <a:rPr lang="en-US" altLang="zh-CN" dirty="0"/>
              <a:t> messages to/from another (remote or local) application process</a:t>
            </a:r>
            <a:endParaRPr lang="en-US" altLang="zh-CN" dirty="0">
              <a:solidFill>
                <a:schemeClr val="bg2"/>
              </a:solidFill>
            </a:endParaRP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514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4"/>
            <a:ext cx="7793037" cy="1369482"/>
          </a:xfrm>
        </p:spPr>
        <p:txBody>
          <a:bodyPr/>
          <a:lstStyle/>
          <a:p>
            <a:r>
              <a:rPr lang="en-US" altLang="zh-CN" sz="4000" i="1" dirty="0"/>
              <a:t>Socket programming using UDP</a:t>
            </a:r>
            <a:endParaRPr lang="zh-CN" altLang="en-US" sz="4000" i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06488" y="1898650"/>
            <a:ext cx="7772400" cy="162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2400" u="sng" kern="0" dirty="0">
                <a:solidFill>
                  <a:srgbClr val="FF0000"/>
                </a:solidFill>
              </a:rPr>
              <a:t>Socket:</a:t>
            </a:r>
            <a:r>
              <a:rPr lang="en-US" altLang="zh-CN" sz="2400" kern="0" dirty="0"/>
              <a:t> a door between application process and end-end transport protocol (UDP or TCP)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u="sng" kern="0" dirty="0">
                <a:solidFill>
                  <a:srgbClr val="FF0000"/>
                </a:solidFill>
              </a:rPr>
              <a:t>UDP service:</a:t>
            </a:r>
            <a:r>
              <a:rPr lang="en-US" altLang="zh-CN" sz="2400" kern="0" dirty="0"/>
              <a:t> unreliable transfer of datagram from one process to another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kern="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073275" y="3513138"/>
          <a:ext cx="1123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7263" imgH="1084139" progId="">
                  <p:embed/>
                </p:oleObj>
              </mc:Choice>
              <mc:Fallback>
                <p:oleObj name="Clip" r:id="rId2" imgW="1307263" imgH="108413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3513138"/>
                        <a:ext cx="11239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296863" y="3519488"/>
            <a:ext cx="1627187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controlled by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application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developer</a:t>
            </a:r>
            <a:endParaRPr lang="en-US" altLang="zh-CN" sz="1800" b="1">
              <a:latin typeface="Times New Roman" pitchFamily="18" charset="0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292100" y="4598988"/>
            <a:ext cx="162718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controlled by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operating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system</a:t>
            </a:r>
            <a:endParaRPr lang="en-US" altLang="zh-CN" sz="1800" b="1">
              <a:latin typeface="Times New Roman" pitchFamily="18" charset="0"/>
            </a:endParaRPr>
          </a:p>
        </p:txBody>
      </p:sp>
      <p:sp>
        <p:nvSpPr>
          <p:cNvPr id="9" name="Line 17"/>
          <p:cNvSpPr>
            <a:spLocks noChangeShapeType="1"/>
          </p:cNvSpPr>
          <p:nvPr/>
        </p:nvSpPr>
        <p:spPr bwMode="auto">
          <a:xfrm flipV="1">
            <a:off x="1943100" y="3895725"/>
            <a:ext cx="0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 flipH="1" flipV="1">
            <a:off x="1933575" y="4476750"/>
            <a:ext cx="0" cy="1000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>
            <a:off x="2241550" y="5651500"/>
            <a:ext cx="869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Comic Sans MS" pitchFamily="66" charset="0"/>
              </a:rPr>
              <a:t>Client</a:t>
            </a:r>
            <a:endParaRPr lang="en-US" altLang="zh-CN" sz="2400">
              <a:latin typeface="Times New Roman" pitchFamily="18" charset="0"/>
            </a:endParaRPr>
          </a:p>
        </p:txBody>
      </p:sp>
      <p:graphicFrame>
        <p:nvGraphicFramePr>
          <p:cNvPr id="12" name="Object 20"/>
          <p:cNvGraphicFramePr>
            <a:graphicFrameLocks noChangeAspect="1"/>
          </p:cNvGraphicFramePr>
          <p:nvPr/>
        </p:nvGraphicFramePr>
        <p:xfrm>
          <a:off x="5730875" y="3543300"/>
          <a:ext cx="1123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1307263" imgH="1084139" progId="">
                  <p:embed/>
                </p:oleObj>
              </mc:Choice>
              <mc:Fallback>
                <p:oleObj name="Clip" r:id="rId4" imgW="1307263" imgH="108413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3543300"/>
                        <a:ext cx="11239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0"/>
          <p:cNvSpPr txBox="1">
            <a:spLocks noChangeArrowheads="1"/>
          </p:cNvSpPr>
          <p:nvPr/>
        </p:nvSpPr>
        <p:spPr bwMode="auto">
          <a:xfrm>
            <a:off x="7118350" y="3473450"/>
            <a:ext cx="16271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controlled by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application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developer</a:t>
            </a:r>
            <a:endParaRPr lang="en-US" altLang="zh-CN" sz="1800" b="1">
              <a:latin typeface="Times New Roman" pitchFamily="18" charset="0"/>
            </a:endParaRPr>
          </a:p>
        </p:txBody>
      </p: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7123113" y="4598988"/>
            <a:ext cx="1627187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controlled by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operating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itchFamily="66" charset="0"/>
              </a:rPr>
              <a:t>system</a:t>
            </a:r>
            <a:endParaRPr lang="en-US" altLang="zh-CN" sz="1800" b="1">
              <a:latin typeface="Times New Roman" pitchFamily="18" charset="0"/>
            </a:endParaRPr>
          </a:p>
        </p:txBody>
      </p:sp>
      <p:sp>
        <p:nvSpPr>
          <p:cNvPr id="15" name="Line 32"/>
          <p:cNvSpPr>
            <a:spLocks noChangeShapeType="1"/>
          </p:cNvSpPr>
          <p:nvPr/>
        </p:nvSpPr>
        <p:spPr bwMode="auto">
          <a:xfrm flipV="1">
            <a:off x="7029450" y="3897313"/>
            <a:ext cx="0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33"/>
          <p:cNvSpPr>
            <a:spLocks noChangeShapeType="1"/>
          </p:cNvSpPr>
          <p:nvPr/>
        </p:nvSpPr>
        <p:spPr bwMode="auto">
          <a:xfrm flipH="1" flipV="1">
            <a:off x="7019925" y="4478338"/>
            <a:ext cx="0" cy="1000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5830888" y="5648325"/>
            <a:ext cx="1008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Comic Sans MS" pitchFamily="66" charset="0"/>
              </a:rPr>
              <a:t>Server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8" name="Freeform 35"/>
          <p:cNvSpPr>
            <a:spLocks/>
          </p:cNvSpPr>
          <p:nvPr/>
        </p:nvSpPr>
        <p:spPr bwMode="auto">
          <a:xfrm>
            <a:off x="3597275" y="4229100"/>
            <a:ext cx="1798638" cy="167481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36"/>
          <p:cNvSpPr txBox="1">
            <a:spLocks noChangeArrowheads="1"/>
          </p:cNvSpPr>
          <p:nvPr/>
        </p:nvSpPr>
        <p:spPr bwMode="auto">
          <a:xfrm>
            <a:off x="3902075" y="4838700"/>
            <a:ext cx="1228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Comic Sans MS" pitchFamily="66" charset="0"/>
              </a:rPr>
              <a:t>Internet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20" name="Line 38"/>
          <p:cNvSpPr>
            <a:spLocks noChangeShapeType="1"/>
          </p:cNvSpPr>
          <p:nvPr/>
        </p:nvSpPr>
        <p:spPr bwMode="auto">
          <a:xfrm>
            <a:off x="179388" y="4419600"/>
            <a:ext cx="8397875" cy="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2097088" y="3883025"/>
            <a:ext cx="1174750" cy="1584325"/>
            <a:chOff x="637" y="2260"/>
            <a:chExt cx="740" cy="998"/>
          </a:xfrm>
        </p:grpSpPr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678" y="2280"/>
              <a:ext cx="642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3" name="Text Box 8"/>
            <p:cNvSpPr txBox="1">
              <a:spLocks noChangeArrowheads="1"/>
            </p:cNvSpPr>
            <p:nvPr/>
          </p:nvSpPr>
          <p:spPr bwMode="auto">
            <a:xfrm>
              <a:off x="694" y="2260"/>
              <a:ext cx="6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Comic Sans MS" pitchFamily="66" charset="0"/>
                </a:rPr>
                <a:t>process</a:t>
              </a:r>
              <a:endParaRPr lang="en-US" altLang="zh-CN" sz="1800">
                <a:latin typeface="Times New Roman" pitchFamily="18" charset="0"/>
              </a:endParaRPr>
            </a:p>
          </p:txBody>
        </p:sp>
        <p:grpSp>
          <p:nvGrpSpPr>
            <p:cNvPr id="24" name="Group 9"/>
            <p:cNvGrpSpPr>
              <a:grpSpLocks/>
            </p:cNvGrpSpPr>
            <p:nvPr/>
          </p:nvGrpSpPr>
          <p:grpSpPr bwMode="auto">
            <a:xfrm>
              <a:off x="637" y="2628"/>
              <a:ext cx="740" cy="630"/>
              <a:chOff x="625" y="2610"/>
              <a:chExt cx="740" cy="630"/>
            </a:xfrm>
          </p:grpSpPr>
          <p:sp>
            <p:nvSpPr>
              <p:cNvPr id="28" name="Text Box 10"/>
              <p:cNvSpPr txBox="1">
                <a:spLocks noChangeArrowheads="1"/>
              </p:cNvSpPr>
              <p:nvPr/>
            </p:nvSpPr>
            <p:spPr bwMode="auto">
              <a:xfrm>
                <a:off x="625" y="2656"/>
                <a:ext cx="740" cy="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itchFamily="66" charset="0"/>
                  </a:rPr>
                  <a:t>UDP with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itchFamily="66" charset="0"/>
                  </a:rPr>
                  <a:t>buffers,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itchFamily="66" charset="0"/>
                  </a:rPr>
                  <a:t>variables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29" name="Rectangle 11"/>
              <p:cNvSpPr>
                <a:spLocks noChangeArrowheads="1"/>
              </p:cNvSpPr>
              <p:nvPr/>
            </p:nvSpPr>
            <p:spPr bwMode="auto">
              <a:xfrm>
                <a:off x="672" y="2610"/>
                <a:ext cx="642" cy="6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5" name="Group 12"/>
            <p:cNvGrpSpPr>
              <a:grpSpLocks/>
            </p:cNvGrpSpPr>
            <p:nvPr/>
          </p:nvGrpSpPr>
          <p:grpSpPr bwMode="auto">
            <a:xfrm>
              <a:off x="741" y="2500"/>
              <a:ext cx="561" cy="231"/>
              <a:chOff x="897" y="3736"/>
              <a:chExt cx="561" cy="231"/>
            </a:xfrm>
          </p:grpSpPr>
          <p:sp>
            <p:nvSpPr>
              <p:cNvPr id="26" name="Rectangle 13"/>
              <p:cNvSpPr>
                <a:spLocks noChangeArrowheads="1"/>
              </p:cNvSpPr>
              <p:nvPr/>
            </p:nvSpPr>
            <p:spPr bwMode="auto">
              <a:xfrm>
                <a:off x="924" y="3774"/>
                <a:ext cx="492" cy="1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" name="Text Box 14"/>
              <p:cNvSpPr txBox="1">
                <a:spLocks noChangeArrowheads="1"/>
              </p:cNvSpPr>
              <p:nvPr/>
            </p:nvSpPr>
            <p:spPr bwMode="auto">
              <a:xfrm>
                <a:off x="897" y="3736"/>
                <a:ext cx="56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Comic Sans MS" pitchFamily="66" charset="0"/>
                  </a:rPr>
                  <a:t>socket</a:t>
                </a:r>
                <a:endParaRPr lang="en-US" altLang="zh-CN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30" name="Group 21"/>
          <p:cNvGrpSpPr>
            <a:grpSpLocks/>
          </p:cNvGrpSpPr>
          <p:nvPr/>
        </p:nvGrpSpPr>
        <p:grpSpPr bwMode="auto">
          <a:xfrm>
            <a:off x="5754688" y="3884613"/>
            <a:ext cx="1174750" cy="1584325"/>
            <a:chOff x="637" y="2260"/>
            <a:chExt cx="740" cy="998"/>
          </a:xfrm>
        </p:grpSpPr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678" y="2280"/>
              <a:ext cx="642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32" name="Text Box 23"/>
            <p:cNvSpPr txBox="1">
              <a:spLocks noChangeArrowheads="1"/>
            </p:cNvSpPr>
            <p:nvPr/>
          </p:nvSpPr>
          <p:spPr bwMode="auto">
            <a:xfrm>
              <a:off x="694" y="2260"/>
              <a:ext cx="6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Comic Sans MS" pitchFamily="66" charset="0"/>
                </a:rPr>
                <a:t>process</a:t>
              </a:r>
              <a:endParaRPr lang="en-US" altLang="zh-CN" sz="1800">
                <a:latin typeface="Times New Roman" pitchFamily="18" charset="0"/>
              </a:endParaRPr>
            </a:p>
          </p:txBody>
        </p:sp>
        <p:grpSp>
          <p:nvGrpSpPr>
            <p:cNvPr id="33" name="Group 24"/>
            <p:cNvGrpSpPr>
              <a:grpSpLocks/>
            </p:cNvGrpSpPr>
            <p:nvPr/>
          </p:nvGrpSpPr>
          <p:grpSpPr bwMode="auto">
            <a:xfrm>
              <a:off x="637" y="2628"/>
              <a:ext cx="740" cy="630"/>
              <a:chOff x="625" y="2610"/>
              <a:chExt cx="740" cy="630"/>
            </a:xfrm>
          </p:grpSpPr>
          <p:sp>
            <p:nvSpPr>
              <p:cNvPr id="37" name="Text Box 25"/>
              <p:cNvSpPr txBox="1">
                <a:spLocks noChangeArrowheads="1"/>
              </p:cNvSpPr>
              <p:nvPr/>
            </p:nvSpPr>
            <p:spPr bwMode="auto">
              <a:xfrm>
                <a:off x="625" y="2656"/>
                <a:ext cx="740" cy="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itchFamily="66" charset="0"/>
                  </a:rPr>
                  <a:t>UDP with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itchFamily="66" charset="0"/>
                  </a:rPr>
                  <a:t>buffers,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Comic Sans MS" pitchFamily="66" charset="0"/>
                  </a:rPr>
                  <a:t>variables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38" name="Rectangle 26"/>
              <p:cNvSpPr>
                <a:spLocks noChangeArrowheads="1"/>
              </p:cNvSpPr>
              <p:nvPr/>
            </p:nvSpPr>
            <p:spPr bwMode="auto">
              <a:xfrm>
                <a:off x="672" y="2610"/>
                <a:ext cx="642" cy="6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4" name="Group 27"/>
            <p:cNvGrpSpPr>
              <a:grpSpLocks/>
            </p:cNvGrpSpPr>
            <p:nvPr/>
          </p:nvGrpSpPr>
          <p:grpSpPr bwMode="auto">
            <a:xfrm>
              <a:off x="741" y="2500"/>
              <a:ext cx="561" cy="231"/>
              <a:chOff x="897" y="3736"/>
              <a:chExt cx="561" cy="231"/>
            </a:xfrm>
          </p:grpSpPr>
          <p:sp>
            <p:nvSpPr>
              <p:cNvPr id="35" name="Rectangle 28"/>
              <p:cNvSpPr>
                <a:spLocks noChangeArrowheads="1"/>
              </p:cNvSpPr>
              <p:nvPr/>
            </p:nvSpPr>
            <p:spPr bwMode="auto">
              <a:xfrm>
                <a:off x="924" y="3774"/>
                <a:ext cx="492" cy="1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" name="Text Box 29"/>
              <p:cNvSpPr txBox="1">
                <a:spLocks noChangeArrowheads="1"/>
              </p:cNvSpPr>
              <p:nvPr/>
            </p:nvSpPr>
            <p:spPr bwMode="auto">
              <a:xfrm>
                <a:off x="897" y="3736"/>
                <a:ext cx="56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Comic Sans MS" pitchFamily="66" charset="0"/>
                  </a:rPr>
                  <a:t>socket</a:t>
                </a:r>
                <a:endParaRPr lang="en-US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39" name="Line 39"/>
          <p:cNvSpPr>
            <a:spLocks noChangeShapeType="1"/>
          </p:cNvSpPr>
          <p:nvPr/>
        </p:nvSpPr>
        <p:spPr bwMode="auto">
          <a:xfrm>
            <a:off x="3267075" y="4643438"/>
            <a:ext cx="24749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778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Overview of UDP-based sockets API</a:t>
            </a:r>
            <a:endParaRPr lang="zh-CN" altLang="en-US" sz="4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477963" y="2347913"/>
            <a:ext cx="1619250" cy="31591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socket()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514975" y="2347913"/>
            <a:ext cx="1619250" cy="31591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socket()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513388" y="3157538"/>
            <a:ext cx="1619250" cy="31591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bind()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514975" y="4014788"/>
            <a:ext cx="1619250" cy="31591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recvfrom()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513388" y="5183188"/>
            <a:ext cx="1619250" cy="31591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sendto()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477963" y="4014788"/>
            <a:ext cx="1619250" cy="31591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sendto()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479550" y="5184775"/>
            <a:ext cx="1619250" cy="315913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recvfrom()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477963" y="5992813"/>
            <a:ext cx="1619250" cy="31591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close()</a:t>
            </a:r>
          </a:p>
        </p:txBody>
      </p:sp>
      <p:cxnSp>
        <p:nvCxnSpPr>
          <p:cNvPr id="13" name="AutoShape 11"/>
          <p:cNvCxnSpPr>
            <a:cxnSpLocks noChangeShapeType="1"/>
            <a:stCxn id="5" idx="2"/>
            <a:endCxn id="10" idx="0"/>
          </p:cNvCxnSpPr>
          <p:nvPr/>
        </p:nvCxnSpPr>
        <p:spPr bwMode="auto">
          <a:xfrm>
            <a:off x="2287588" y="2678113"/>
            <a:ext cx="0" cy="1322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2"/>
          <p:cNvCxnSpPr>
            <a:cxnSpLocks noChangeShapeType="1"/>
            <a:stCxn id="10" idx="2"/>
            <a:endCxn id="11" idx="0"/>
          </p:cNvCxnSpPr>
          <p:nvPr/>
        </p:nvCxnSpPr>
        <p:spPr bwMode="auto">
          <a:xfrm>
            <a:off x="2287588" y="4344988"/>
            <a:ext cx="1587" cy="8255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3"/>
          <p:cNvCxnSpPr>
            <a:cxnSpLocks noChangeShapeType="1"/>
            <a:stCxn id="11" idx="2"/>
            <a:endCxn id="12" idx="0"/>
          </p:cNvCxnSpPr>
          <p:nvPr/>
        </p:nvCxnSpPr>
        <p:spPr bwMode="auto">
          <a:xfrm flipH="1">
            <a:off x="2287588" y="5514975"/>
            <a:ext cx="1587" cy="4635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4"/>
          <p:cNvCxnSpPr>
            <a:cxnSpLocks noChangeShapeType="1"/>
            <a:stCxn id="6" idx="2"/>
            <a:endCxn id="7" idx="0"/>
          </p:cNvCxnSpPr>
          <p:nvPr/>
        </p:nvCxnSpPr>
        <p:spPr bwMode="auto">
          <a:xfrm flipH="1">
            <a:off x="6323013" y="2678113"/>
            <a:ext cx="1587" cy="4651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5"/>
          <p:cNvCxnSpPr>
            <a:cxnSpLocks noChangeShapeType="1"/>
            <a:stCxn id="7" idx="2"/>
            <a:endCxn id="8" idx="0"/>
          </p:cNvCxnSpPr>
          <p:nvPr/>
        </p:nvCxnSpPr>
        <p:spPr bwMode="auto">
          <a:xfrm>
            <a:off x="6323013" y="3487738"/>
            <a:ext cx="1587" cy="5127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6"/>
          <p:cNvCxnSpPr>
            <a:cxnSpLocks noChangeShapeType="1"/>
            <a:stCxn id="8" idx="2"/>
            <a:endCxn id="9" idx="0"/>
          </p:cNvCxnSpPr>
          <p:nvPr/>
        </p:nvCxnSpPr>
        <p:spPr bwMode="auto">
          <a:xfrm flipH="1">
            <a:off x="6323013" y="4344988"/>
            <a:ext cx="1587" cy="8239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7"/>
          <p:cNvCxnSpPr>
            <a:cxnSpLocks noChangeShapeType="1"/>
          </p:cNvCxnSpPr>
          <p:nvPr/>
        </p:nvCxnSpPr>
        <p:spPr bwMode="auto">
          <a:xfrm rot="10800000">
            <a:off x="1463675" y="4173538"/>
            <a:ext cx="1588" cy="1169987"/>
          </a:xfrm>
          <a:prstGeom prst="bentConnector3">
            <a:avLst>
              <a:gd name="adj1" fmla="val 13600005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18"/>
          <p:cNvCxnSpPr>
            <a:cxnSpLocks noChangeShapeType="1"/>
            <a:stCxn id="9" idx="3"/>
            <a:endCxn id="8" idx="3"/>
          </p:cNvCxnSpPr>
          <p:nvPr/>
        </p:nvCxnSpPr>
        <p:spPr bwMode="auto">
          <a:xfrm flipV="1">
            <a:off x="7146925" y="4173538"/>
            <a:ext cx="1588" cy="1168400"/>
          </a:xfrm>
          <a:prstGeom prst="bentConnector3">
            <a:avLst>
              <a:gd name="adj1" fmla="val 13600005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19"/>
          <p:cNvCxnSpPr>
            <a:cxnSpLocks noChangeShapeType="1"/>
            <a:stCxn id="10" idx="3"/>
            <a:endCxn id="8" idx="1"/>
          </p:cNvCxnSpPr>
          <p:nvPr/>
        </p:nvCxnSpPr>
        <p:spPr bwMode="auto">
          <a:xfrm>
            <a:off x="3111500" y="4173538"/>
            <a:ext cx="2389188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20"/>
          <p:cNvCxnSpPr>
            <a:cxnSpLocks noChangeShapeType="1"/>
            <a:stCxn id="9" idx="1"/>
            <a:endCxn id="11" idx="3"/>
          </p:cNvCxnSpPr>
          <p:nvPr/>
        </p:nvCxnSpPr>
        <p:spPr bwMode="auto">
          <a:xfrm flipH="1">
            <a:off x="3113088" y="5341938"/>
            <a:ext cx="2386012" cy="1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1566863" y="1847850"/>
            <a:ext cx="148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hlink"/>
                </a:solidFill>
              </a:rPr>
              <a:t>UDP Client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5559425" y="1854200"/>
            <a:ext cx="1622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hlink"/>
                </a:solidFill>
              </a:rPr>
              <a:t>UDP Server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097213" y="3789363"/>
            <a:ext cx="2384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data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3097213" y="4959350"/>
            <a:ext cx="2384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164271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930" y="1313765"/>
            <a:ext cx="4800600" cy="51625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4"/>
            <a:ext cx="7793037" cy="1189462"/>
          </a:xfrm>
        </p:spPr>
        <p:txBody>
          <a:bodyPr/>
          <a:lstStyle/>
          <a:p>
            <a:r>
              <a:rPr lang="en-US" altLang="zh-CN" sz="4000" dirty="0"/>
              <a:t>Running the program (1)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2578" y="2014500"/>
            <a:ext cx="3839362" cy="4114800"/>
          </a:xfrm>
        </p:spPr>
        <p:txBody>
          <a:bodyPr/>
          <a:lstStyle/>
          <a:p>
            <a:pPr marL="342900" lvl="2" indent="-342900">
              <a:buSzPct val="60000"/>
            </a:pPr>
            <a:r>
              <a:rPr lang="en-US" altLang="zh-CN" dirty="0"/>
              <a:t>1. Get the IP address of your DNS server (</a:t>
            </a:r>
            <a:r>
              <a:rPr lang="en-US" altLang="zh-CN" dirty="0" err="1"/>
              <a:t>eg</a:t>
            </a:r>
            <a:r>
              <a:rPr lang="en-US" altLang="zh-CN" dirty="0"/>
              <a:t>. </a:t>
            </a:r>
            <a:r>
              <a:rPr lang="en-US" altLang="zh-CN" i="1" dirty="0">
                <a:solidFill>
                  <a:srgbClr val="002060"/>
                </a:solidFill>
              </a:rPr>
              <a:t>202.106.0.20</a:t>
            </a:r>
            <a:r>
              <a:rPr lang="en-US" altLang="zh-CN" dirty="0"/>
              <a:t> ) and your IP address (</a:t>
            </a:r>
            <a:r>
              <a:rPr lang="en-US" altLang="zh-CN" dirty="0" err="1"/>
              <a:t>eg</a:t>
            </a:r>
            <a:r>
              <a:rPr lang="en-US" altLang="zh-CN" dirty="0"/>
              <a:t>. </a:t>
            </a:r>
            <a:r>
              <a:rPr lang="en-US" altLang="zh-CN" i="1" dirty="0">
                <a:solidFill>
                  <a:schemeClr val="tx2"/>
                </a:solidFill>
              </a:rPr>
              <a:t>192.168.0.104 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       c:&gt; </a:t>
            </a:r>
            <a:r>
              <a:rPr lang="en-US" altLang="zh-CN" sz="2400" dirty="0" err="1">
                <a:solidFill>
                  <a:srgbClr val="C00000"/>
                </a:solidFill>
              </a:rPr>
              <a:t>ipconfig</a:t>
            </a:r>
            <a:r>
              <a:rPr lang="en-US" altLang="zh-CN" sz="2400" dirty="0">
                <a:solidFill>
                  <a:srgbClr val="C00000"/>
                </a:solidFill>
              </a:rPr>
              <a:t> /all</a:t>
            </a:r>
          </a:p>
          <a:p>
            <a:pPr marL="342900" lvl="2" indent="-342900">
              <a:buSzPct val="60000"/>
            </a:pPr>
            <a:r>
              <a:rPr lang="en-US" altLang="zh-CN" sz="2400" dirty="0"/>
              <a:t>2. configure your DNS server as your IP address </a:t>
            </a:r>
            <a:r>
              <a:rPr lang="en-US" altLang="zh-CN" dirty="0"/>
              <a:t>(</a:t>
            </a:r>
            <a:r>
              <a:rPr lang="en-US" altLang="zh-CN" dirty="0" err="1"/>
              <a:t>eg</a:t>
            </a:r>
            <a:r>
              <a:rPr lang="en-US" altLang="zh-CN" dirty="0"/>
              <a:t>. </a:t>
            </a:r>
            <a:r>
              <a:rPr lang="en-US" altLang="zh-CN" i="1" dirty="0">
                <a:solidFill>
                  <a:schemeClr val="tx2"/>
                </a:solidFill>
              </a:rPr>
              <a:t>192.168.0.104  or 127.0.0.1</a:t>
            </a:r>
            <a:r>
              <a:rPr lang="en-US" altLang="zh-CN" dirty="0"/>
              <a:t>)</a:t>
            </a:r>
          </a:p>
          <a:p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endParaRPr lang="zh-CN" altLang="en-US" sz="24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 bwMode="auto">
          <a:xfrm>
            <a:off x="5022050" y="4914165"/>
            <a:ext cx="3600400" cy="36004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8662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4"/>
            <a:ext cx="7793037" cy="1189462"/>
          </a:xfrm>
        </p:spPr>
        <p:txBody>
          <a:bodyPr/>
          <a:lstStyle/>
          <a:p>
            <a:r>
              <a:rPr lang="en-US" altLang="zh-CN" sz="4000" dirty="0"/>
              <a:t>Running the program (2)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3. Running your program, setting local DNS server as </a:t>
            </a:r>
            <a:r>
              <a:rPr lang="en-US" altLang="zh-CN" sz="2800" i="1" dirty="0">
                <a:solidFill>
                  <a:srgbClr val="002060"/>
                </a:solidFill>
              </a:rPr>
              <a:t>202.106.0.20</a:t>
            </a:r>
          </a:p>
          <a:p>
            <a:r>
              <a:rPr lang="en-US" altLang="zh-CN" sz="2800" dirty="0"/>
              <a:t>4. using ,</a:t>
            </a:r>
            <a:r>
              <a:rPr lang="en-US" altLang="zh-CN" sz="2800" b="1" dirty="0" err="1"/>
              <a:t>nslookup</a:t>
            </a:r>
            <a:r>
              <a:rPr lang="en-US" altLang="zh-CN" sz="2800" dirty="0"/>
              <a:t>, ping</a:t>
            </a:r>
            <a:r>
              <a:rPr lang="zh-CN" altLang="en-US" sz="2800" dirty="0"/>
              <a:t>，</a:t>
            </a:r>
            <a:r>
              <a:rPr lang="en-US" altLang="zh-CN" sz="2800" dirty="0"/>
              <a:t>web browser… to test your program</a:t>
            </a:r>
            <a:endParaRPr lang="zh-CN" alt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4470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implementation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505" y="2110514"/>
            <a:ext cx="9045426" cy="4114800"/>
          </a:xfrm>
        </p:spPr>
        <p:txBody>
          <a:bodyPr/>
          <a:lstStyle/>
          <a:p>
            <a:r>
              <a:rPr lang="en-US" altLang="zh-CN" dirty="0"/>
              <a:t>Command</a:t>
            </a:r>
          </a:p>
          <a:p>
            <a:pPr marL="0" indent="0">
              <a:buNone/>
            </a:pPr>
            <a:r>
              <a:rPr lang="en-US" altLang="zh-CN" sz="2400" dirty="0"/>
              <a:t>   </a:t>
            </a:r>
            <a:r>
              <a:rPr lang="da-DK" altLang="zh-CN" sz="2400" dirty="0"/>
              <a:t>dnsrelay</a:t>
            </a:r>
            <a:r>
              <a:rPr lang="da-DK" altLang="zh-CN" sz="2400" dirty="0">
                <a:latin typeface="Times" panose="02020603050405020304" pitchFamily="18" charset="0"/>
              </a:rPr>
              <a:t> </a:t>
            </a:r>
            <a:r>
              <a:rPr lang="da-DK" altLang="zh-CN" sz="2400" dirty="0">
                <a:latin typeface="仿宋_GB2312" pitchFamily="49" charset="-122"/>
                <a:ea typeface="仿宋_GB2312" pitchFamily="49" charset="-122"/>
              </a:rPr>
              <a:t>[</a:t>
            </a:r>
            <a:r>
              <a:rPr lang="da-DK" altLang="zh-CN" sz="2400" dirty="0"/>
              <a:t>-d</a:t>
            </a:r>
            <a:r>
              <a:rPr lang="da-DK" altLang="zh-CN" sz="2400" dirty="0">
                <a:latin typeface="Times" panose="02020603050405020304" pitchFamily="18" charset="0"/>
              </a:rPr>
              <a:t> </a:t>
            </a:r>
            <a:r>
              <a:rPr lang="da-DK" altLang="zh-CN" sz="2400" dirty="0">
                <a:latin typeface="仿宋_GB2312" pitchFamily="49" charset="-122"/>
                <a:ea typeface="仿宋_GB2312" pitchFamily="49" charset="-122"/>
              </a:rPr>
              <a:t>|</a:t>
            </a:r>
            <a:r>
              <a:rPr lang="da-DK" altLang="zh-CN" sz="2400" dirty="0">
                <a:latin typeface="Times" panose="02020603050405020304" pitchFamily="18" charset="0"/>
              </a:rPr>
              <a:t> </a:t>
            </a:r>
            <a:r>
              <a:rPr lang="da-DK" altLang="zh-CN" sz="2400" dirty="0"/>
              <a:t>-dd</a:t>
            </a:r>
            <a:r>
              <a:rPr lang="da-DK" altLang="zh-CN" sz="2400" dirty="0">
                <a:latin typeface="仿宋_GB2312" pitchFamily="49" charset="-122"/>
                <a:ea typeface="仿宋_GB2312" pitchFamily="49" charset="-122"/>
              </a:rPr>
              <a:t>] [</a:t>
            </a:r>
            <a:r>
              <a:rPr lang="da-DK" altLang="zh-CN" sz="2400" i="1" u="sng" dirty="0">
                <a:latin typeface="Times New Roman" panose="02020603050405020304" pitchFamily="18" charset="0"/>
              </a:rPr>
              <a:t>dns-server-ipaddr</a:t>
            </a:r>
            <a:r>
              <a:rPr lang="da-DK" altLang="zh-CN" sz="2400" dirty="0">
                <a:latin typeface="仿宋_GB2312" pitchFamily="49" charset="-122"/>
                <a:ea typeface="仿宋_GB2312" pitchFamily="49" charset="-122"/>
              </a:rPr>
              <a:t>] [</a:t>
            </a:r>
            <a:r>
              <a:rPr lang="da-DK" altLang="zh-CN" sz="2400" i="1" u="sng" dirty="0">
                <a:latin typeface="Times New Roman" panose="02020603050405020304" pitchFamily="18" charset="0"/>
              </a:rPr>
              <a:t>filename</a:t>
            </a:r>
            <a:r>
              <a:rPr lang="da-DK" altLang="zh-CN" sz="2400" dirty="0">
                <a:latin typeface="仿宋_GB2312" pitchFamily="49" charset="-122"/>
                <a:ea typeface="仿宋_GB2312" pitchFamily="49" charset="-122"/>
              </a:rPr>
              <a:t>]</a:t>
            </a:r>
            <a:endParaRPr lang="en-US" altLang="zh-CN" sz="2400" dirty="0">
              <a:latin typeface="仿宋_GB2312" pitchFamily="49" charset="-122"/>
              <a:ea typeface="仿宋_GB2312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6035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About project reports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Following contents shall be included:</a:t>
            </a:r>
          </a:p>
          <a:p>
            <a:pPr lvl="1"/>
            <a:r>
              <a:rPr lang="en-US" altLang="zh-CN" dirty="0"/>
              <a:t>Requirement analysis</a:t>
            </a:r>
          </a:p>
          <a:p>
            <a:pPr lvl="1"/>
            <a:r>
              <a:rPr lang="en-US" altLang="zh-CN" dirty="0"/>
              <a:t>Decomposition of functional modules</a:t>
            </a:r>
          </a:p>
          <a:p>
            <a:pPr lvl="1"/>
            <a:r>
              <a:rPr lang="en-US" altLang="zh-CN" dirty="0"/>
              <a:t>Overall flow chart</a:t>
            </a:r>
          </a:p>
          <a:p>
            <a:pPr lvl="1"/>
            <a:r>
              <a:rPr lang="en-US" altLang="zh-CN" dirty="0"/>
              <a:t>Flow charts in each module</a:t>
            </a:r>
          </a:p>
          <a:p>
            <a:pPr lvl="1"/>
            <a:r>
              <a:rPr lang="en-US" altLang="zh-CN" dirty="0"/>
              <a:t>Testing and results</a:t>
            </a:r>
          </a:p>
          <a:p>
            <a:pPr lvl="1"/>
            <a:r>
              <a:rPr lang="en-US" altLang="zh-CN" dirty="0"/>
              <a:t>Summary of works and future improvement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51289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Deadline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516632"/>
          </a:xfrm>
        </p:spPr>
        <p:txBody>
          <a:bodyPr/>
          <a:lstStyle/>
          <a:p>
            <a:r>
              <a:rPr lang="en-US" altLang="zh-CN" dirty="0"/>
              <a:t>Evaluation </a:t>
            </a:r>
          </a:p>
          <a:p>
            <a:pPr lvl="1"/>
            <a:r>
              <a:rPr lang="en-US" altLang="zh-CN" dirty="0"/>
              <a:t>2024.7.3-7.4</a:t>
            </a:r>
          </a:p>
          <a:p>
            <a:r>
              <a:rPr lang="en-US" altLang="zh-CN" dirty="0"/>
              <a:t>Report</a:t>
            </a:r>
          </a:p>
          <a:p>
            <a:pPr lvl="1"/>
            <a:r>
              <a:rPr lang="en-US" altLang="zh-CN" dirty="0"/>
              <a:t>Packing and email to </a:t>
            </a:r>
            <a:r>
              <a:rPr lang="en-US" altLang="zh-CN" dirty="0">
                <a:solidFill>
                  <a:srgbClr val="002060"/>
                </a:solidFill>
              </a:rPr>
              <a:t>zbo@bupt.edu.cn</a:t>
            </a:r>
            <a:endParaRPr lang="en-US" altLang="zh-CN" dirty="0"/>
          </a:p>
          <a:p>
            <a:pPr lvl="1"/>
            <a:r>
              <a:rPr lang="en-US" altLang="zh-CN" dirty="0"/>
              <a:t>Named as studentID1Name-ID2Name-ID3Name.pdf or doc</a:t>
            </a:r>
          </a:p>
          <a:p>
            <a:pPr lvl="1"/>
            <a:r>
              <a:rPr lang="en-US" altLang="zh-CN" dirty="0"/>
              <a:t>Deadline:</a:t>
            </a:r>
            <a:r>
              <a:rPr lang="zh-CN" altLang="en-US" dirty="0"/>
              <a:t> </a:t>
            </a:r>
            <a:r>
              <a:rPr lang="en-US" altLang="zh-CN" dirty="0"/>
              <a:t>2024.7.6 23:59:59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B8273104-5D2C-4340-B197-6953423B50C0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5616957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28165</TotalTime>
  <Words>1863</Words>
  <Application>Microsoft Office PowerPoint</Application>
  <PresentationFormat>全屏显示(4:3)</PresentationFormat>
  <Paragraphs>347</Paragraphs>
  <Slides>36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ZapfDingbats</vt:lpstr>
      <vt:lpstr>仿宋_GB2312</vt:lpstr>
      <vt:lpstr>华文新魏</vt:lpstr>
      <vt:lpstr>宋体</vt:lpstr>
      <vt:lpstr>Arial</vt:lpstr>
      <vt:lpstr>Comic Sans MS</vt:lpstr>
      <vt:lpstr>Courier New</vt:lpstr>
      <vt:lpstr>Lucida Console</vt:lpstr>
      <vt:lpstr>Tahoma</vt:lpstr>
      <vt:lpstr>Times</vt:lpstr>
      <vt:lpstr>Times New Roman</vt:lpstr>
      <vt:lpstr>Wingdings</vt:lpstr>
      <vt:lpstr>Blends</vt:lpstr>
      <vt:lpstr>Clip</vt:lpstr>
      <vt:lpstr>Project of Computer Networks： Implementation of a DNS Relay</vt:lpstr>
      <vt:lpstr>Outline</vt:lpstr>
      <vt:lpstr>DNS Relay </vt:lpstr>
      <vt:lpstr>3 Cases </vt:lpstr>
      <vt:lpstr>Environment</vt:lpstr>
      <vt:lpstr>Getting started Understanding DNS</vt:lpstr>
      <vt:lpstr>Domain Namespace  – the hierarchical structure</vt:lpstr>
      <vt:lpstr>Name Servers</vt:lpstr>
      <vt:lpstr>DNS Clients: Resolvers</vt:lpstr>
      <vt:lpstr>eg. DNS working together with the HTTP application</vt:lpstr>
      <vt:lpstr>Name information: Resource Records</vt:lpstr>
      <vt:lpstr>Caching mechanisms</vt:lpstr>
      <vt:lpstr>Protocol details: Message Format (from RFC 1035)</vt:lpstr>
      <vt:lpstr>DNS Message Header Structure(1)</vt:lpstr>
      <vt:lpstr>DNS Message Header Structure(2)</vt:lpstr>
      <vt:lpstr>Question Section Format</vt:lpstr>
      <vt:lpstr>Resource Record Format (1)</vt:lpstr>
      <vt:lpstr>Resource Record Format (2) – type field</vt:lpstr>
      <vt:lpstr>Resource Record Format (3) – type field</vt:lpstr>
      <vt:lpstr>Example of Resource Records(1)</vt:lpstr>
      <vt:lpstr>Example of Resource Records (2)</vt:lpstr>
      <vt:lpstr>DNS tools: nslookup</vt:lpstr>
      <vt:lpstr>Using wireshark to understand the communications</vt:lpstr>
      <vt:lpstr>Download Wireshark</vt:lpstr>
      <vt:lpstr>Starting wireshark in windows</vt:lpstr>
      <vt:lpstr>How to initiate the communications?</vt:lpstr>
      <vt:lpstr>DNS Request</vt:lpstr>
      <vt:lpstr>DNS Response</vt:lpstr>
      <vt:lpstr>Using Socket programming</vt:lpstr>
      <vt:lpstr>Socket programming using UDP</vt:lpstr>
      <vt:lpstr>Overview of UDP-based sockets API</vt:lpstr>
      <vt:lpstr>Running the program (1)</vt:lpstr>
      <vt:lpstr>Running the program (2)</vt:lpstr>
      <vt:lpstr>Example implementation</vt:lpstr>
      <vt:lpstr>About project reports</vt:lpstr>
      <vt:lpstr>Deadline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gaozc@bupt.edu.cn</dc:creator>
  <cp:lastModifiedBy>波 张</cp:lastModifiedBy>
  <cp:revision>2660</cp:revision>
  <cp:lastPrinted>2017-06-29T07:05:38Z</cp:lastPrinted>
  <dcterms:created xsi:type="dcterms:W3CDTF">1601-01-01T00:00:00Z</dcterms:created>
  <dcterms:modified xsi:type="dcterms:W3CDTF">2025-06-25T09:17:08Z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